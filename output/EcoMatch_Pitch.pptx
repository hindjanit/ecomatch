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829f6fe76a4f64" /><Relationship Type="http://schemas.openxmlformats.org/officeDocument/2006/relationships/extended-properties" Target="/docProps/app.xml" Id="R0b3d59493a784dd9" /><Relationship Type="http://schemas.openxmlformats.org/officeDocument/2006/relationships/officeDocument" Target="/ppt/presentation.xml" Id="R57028e421f3b47e7" /></Relationships>
</file>

<file path=ppt/presentation.xml><?xml version="1.0" encoding="utf-8"?>
<p:presentation xmlns:p="http://schemas.openxmlformats.org/presentationml/2006/main">
  <p:sldMasterIdLst>
    <p:sldMasterId xmlns:r="http://schemas.openxmlformats.org/officeDocument/2006/relationships" id="2147483648" r:id="Rc08aec782a4544e0"/>
  </p:sldMasterIdLst>
  <p:notesMasterIdLst>
    <p:notesMasterId xmlns:r="http://schemas.openxmlformats.org/officeDocument/2006/relationships" r:id="Rebd3fb3d44b04ba9"/>
  </p:notesMasterIdLst>
  <p:sldIdLst>
    <p:sldId xmlns:r="http://schemas.openxmlformats.org/officeDocument/2006/relationships" id="256" r:id="Rdf6057d445c04266"/>
    <p:sldId xmlns:r="http://schemas.openxmlformats.org/officeDocument/2006/relationships" id="257" r:id="Rc4a8bd86277d44ff"/>
    <p:sldId xmlns:r="http://schemas.openxmlformats.org/officeDocument/2006/relationships" id="258" r:id="R706c233a1ab04691"/>
    <p:sldId xmlns:r="http://schemas.openxmlformats.org/officeDocument/2006/relationships" id="259" r:id="R4c78386752df4b4a"/>
    <p:sldId xmlns:r="http://schemas.openxmlformats.org/officeDocument/2006/relationships" id="260" r:id="R96c35b99dc8a438e"/>
    <p:sldId xmlns:r="http://schemas.openxmlformats.org/officeDocument/2006/relationships" id="261" r:id="R392361b12ef64084"/>
    <p:sldId xmlns:r="http://schemas.openxmlformats.org/officeDocument/2006/relationships" id="262" r:id="R40945a034c3d4110"/>
    <p:sldId xmlns:r="http://schemas.openxmlformats.org/officeDocument/2006/relationships" id="263" r:id="R853d3b4b781849c6"/>
    <p:sldId xmlns:r="http://schemas.openxmlformats.org/officeDocument/2006/relationships" id="264" r:id="R74f900dd2a7e4146"/>
    <p:sldId xmlns:r="http://schemas.openxmlformats.org/officeDocument/2006/relationships" id="265" r:id="Rae94de9e8f314af2"/>
    <p:sldId xmlns:r="http://schemas.openxmlformats.org/officeDocument/2006/relationships" id="266" r:id="R6eca66b1ff3240b5"/>
    <p:sldId xmlns:r="http://schemas.openxmlformats.org/officeDocument/2006/relationships" id="267" r:id="R44d7fc419b3a42e3"/>
    <p:sldId xmlns:r="http://schemas.openxmlformats.org/officeDocument/2006/relationships" id="268" r:id="Ra24925b2ebe54918"/>
    <p:sldId xmlns:r="http://schemas.openxmlformats.org/officeDocument/2006/relationships" id="269" r:id="R7facd1b51cf94dde"/>
    <p:sldId xmlns:r="http://schemas.openxmlformats.org/officeDocument/2006/relationships" id="270" r:id="R403a68bd72654afa"/>
    <p:sldId xmlns:r="http://schemas.openxmlformats.org/officeDocument/2006/relationships" id="271" r:id="R36ee6bf83ef1482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9920fe8934441e" /><Relationship Type="http://schemas.openxmlformats.org/officeDocument/2006/relationships/slideMaster" Target="/ppt/slideMasters/slideMaster1.xml" Id="Rc08aec782a4544e0" /><Relationship Type="http://schemas.openxmlformats.org/officeDocument/2006/relationships/notesMaster" Target="/ppt/notesMasters/notesMaster1.xml" Id="Rebd3fb3d44b04ba9" /><Relationship Type="http://schemas.openxmlformats.org/officeDocument/2006/relationships/presProps" Target="/ppt/presProps.xml" Id="R4c3d9915a72d4227" /><Relationship Type="http://schemas.openxmlformats.org/officeDocument/2006/relationships/tableStyles" Target="/ppt/tableStyles.xml" Id="Re3e06f8f515a46d8" /><Relationship Type="http://schemas.openxmlformats.org/officeDocument/2006/relationships/slide" Target="/ppt/slides/slide1.xml" Id="Rdf6057d445c04266" /><Relationship Type="http://schemas.openxmlformats.org/officeDocument/2006/relationships/slide" Target="/ppt/slides/slide2.xml" Id="Rc4a8bd86277d44ff" /><Relationship Type="http://schemas.openxmlformats.org/officeDocument/2006/relationships/slide" Target="/ppt/slides/slide3.xml" Id="R706c233a1ab04691" /><Relationship Type="http://schemas.openxmlformats.org/officeDocument/2006/relationships/slide" Target="/ppt/slides/slide4.xml" Id="R4c78386752df4b4a" /><Relationship Type="http://schemas.openxmlformats.org/officeDocument/2006/relationships/slide" Target="/ppt/slides/slide5.xml" Id="R96c35b99dc8a438e" /><Relationship Type="http://schemas.openxmlformats.org/officeDocument/2006/relationships/slide" Target="/ppt/slides/slide6.xml" Id="R392361b12ef64084" /><Relationship Type="http://schemas.openxmlformats.org/officeDocument/2006/relationships/slide" Target="/ppt/slides/slide7.xml" Id="R40945a034c3d4110" /><Relationship Type="http://schemas.openxmlformats.org/officeDocument/2006/relationships/slide" Target="/ppt/slides/slide8.xml" Id="R853d3b4b781849c6" /><Relationship Type="http://schemas.openxmlformats.org/officeDocument/2006/relationships/slide" Target="/ppt/slides/slide9.xml" Id="R74f900dd2a7e4146" /><Relationship Type="http://schemas.openxmlformats.org/officeDocument/2006/relationships/slide" Target="/ppt/slides/slide10.xml" Id="Rae94de9e8f314af2" /><Relationship Type="http://schemas.openxmlformats.org/officeDocument/2006/relationships/slide" Target="/ppt/slides/slide11.xml" Id="R6eca66b1ff3240b5" /><Relationship Type="http://schemas.openxmlformats.org/officeDocument/2006/relationships/slide" Target="/ppt/slides/slide12.xml" Id="R44d7fc419b3a42e3" /><Relationship Type="http://schemas.openxmlformats.org/officeDocument/2006/relationships/slide" Target="/ppt/slides/slide13.xml" Id="Ra24925b2ebe54918" /><Relationship Type="http://schemas.openxmlformats.org/officeDocument/2006/relationships/slide" Target="/ppt/slides/slide14.xml" Id="R7facd1b51cf94dde" /><Relationship Type="http://schemas.openxmlformats.org/officeDocument/2006/relationships/slide" Target="/ppt/slides/slide15.xml" Id="R403a68bd72654afa" /><Relationship Type="http://schemas.openxmlformats.org/officeDocument/2006/relationships/slide" Target="/ppt/slides/slide16.xml" Id="R36ee6bf83ef148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a9401a44be40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cb5d12206d41f6" /><Relationship Type="http://schemas.openxmlformats.org/officeDocument/2006/relationships/notesMaster" Target="/ppt/notesMasters/notesMaster1.xml" Id="R49d3d995e7f549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67b94a3f844093" /><Relationship Type="http://schemas.openxmlformats.org/officeDocument/2006/relationships/notesMaster" Target="/ppt/notesMasters/notesMaster1.xml" Id="Rea422412971546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7554fb311649bd" /><Relationship Type="http://schemas.openxmlformats.org/officeDocument/2006/relationships/notesMaster" Target="/ppt/notesMasters/notesMaster1.xml" Id="Rf189f3665f4b4e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4e92890f7472f" /><Relationship Type="http://schemas.openxmlformats.org/officeDocument/2006/relationships/notesMaster" Target="/ppt/notesMasters/notesMaster1.xml" Id="R9dc8f236abb740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0de72dbfc149c2" /><Relationship Type="http://schemas.openxmlformats.org/officeDocument/2006/relationships/notesMaster" Target="/ppt/notesMasters/notesMaster1.xml" Id="R3f16c9fe2f0340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20a007c075498b" /><Relationship Type="http://schemas.openxmlformats.org/officeDocument/2006/relationships/notesMaster" Target="/ppt/notesMasters/notesMaster1.xml" Id="R88aba8ba2a8b4f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436e90023841de" /><Relationship Type="http://schemas.openxmlformats.org/officeDocument/2006/relationships/notesMaster" Target="/ppt/notesMasters/notesMaster1.xml" Id="Rf5dd68f8256443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d09dce533647b5" /><Relationship Type="http://schemas.openxmlformats.org/officeDocument/2006/relationships/notesMaster" Target="/ppt/notesMasters/notesMaster1.xml" Id="Reb4af578099c4f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fc6d29863c4bac" /><Relationship Type="http://schemas.openxmlformats.org/officeDocument/2006/relationships/notesMaster" Target="/ppt/notesMasters/notesMaster1.xml" Id="Rf2005a204bb14f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e7de0708624c90" /><Relationship Type="http://schemas.openxmlformats.org/officeDocument/2006/relationships/notesMaster" Target="/ppt/notesMasters/notesMaster1.xml" Id="Rf97d126e9f7242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9fd32be4004d20" /><Relationship Type="http://schemas.openxmlformats.org/officeDocument/2006/relationships/notesMaster" Target="/ppt/notesMasters/notesMaster1.xml" Id="R6b21cc0c6cb34b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a559ae01f94bf0" /><Relationship Type="http://schemas.openxmlformats.org/officeDocument/2006/relationships/notesMaster" Target="/ppt/notesMasters/notesMaster1.xml" Id="R4c774301a9a84b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895b31a40a41c5" /><Relationship Type="http://schemas.openxmlformats.org/officeDocument/2006/relationships/notesMaster" Target="/ppt/notesMasters/notesMaster1.xml" Id="R785eec16c1a344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a4760d36104da3" /><Relationship Type="http://schemas.openxmlformats.org/officeDocument/2006/relationships/notesMaster" Target="/ppt/notesMasters/notesMaster1.xml" Id="R818e5e28ac5646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dab836a9a64922" /><Relationship Type="http://schemas.openxmlformats.org/officeDocument/2006/relationships/notesMaster" Target="/ppt/notesMasters/notesMaster1.xml" Id="R0960173d4ee84b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3add6abcc84bdb" /><Relationship Type="http://schemas.openxmlformats.org/officeDocument/2006/relationships/notesMaster" Target="/ppt/notesMasters/notesMaster1.xml" Id="Rf82eafc4ea1b40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 Namaste, hum EcoMatch bana rahe hain. Businesses ke paas jo usable stock aur equipment idle hai, use kisi aur ki supply banane mein help karte hain. Our focus is discovery, assessment and a documented exchange.</a:t>
            </a:r>
          </a:p>
          <a:p xmlns:a="http://schemas.openxmlformats.org/drawingml/2006/main">
            <a:r>
              <a:t/>
            </a:r>
          </a:p>
          <a:p xmlns:a="http://schemas.openxmlformats.org/drawingml/2006/main">
            <a:r>
              <a:t>Sources: EcoMatch product positioning. Cover: original conceptual artwork created for this deck, not actual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UNEP ke 2024 report ke mutabik global resource extraction five decades mein three times hui. Yeh EcoMatch ka market-size number nahi hai. Local opportunity: existing assets ko assess aur exchange karna easier banana.</a:t>
            </a:r>
          </a:p>
          <a:p xmlns:a="http://schemas.openxmlformats.org/drawingml/2006/main">
            <a:r>
              <a:t/>
            </a:r>
          </a:p>
          <a:p xmlns:a="http://schemas.openxmlformats.org/drawingml/2006/main">
            <a:r>
              <a:t>Sources: https://www.unep.org/resources/Global-Resource-Outlook-2024; product hypothesis based on EcoMatch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EcoMatch ko ek sentence mein explain karein: reusable assets ke liye marketplace jahan listing se handover tak information saath rehti hai. Homepage sourcing panel contains illustrative UI values; these are not traction metrics.</a:t>
            </a:r>
          </a:p>
          <a:p xmlns:a="http://schemas.openxmlformats.org/drawingml/2006/main">
            <a:r>
              <a:t/>
            </a:r>
          </a:p>
          <a:p xmlns:a="http://schemas.openxmlformats.org/drawingml/2006/main">
            <a:r>
              <a:t>Source: EcoMatch repository and deployed website, inspected 22–23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Ek real product listing dikhayein. Material, condition, quantity aur price ek jagah milte hain. Seller data aur photo inspection ko independent product testing ke barabar present na karein.</a:t>
            </a:r>
          </a:p>
          <a:p xmlns:a="http://schemas.openxmlformats.org/drawingml/2006/main">
            <a:r>
              <a:t/>
            </a:r>
          </a:p>
          <a:p xmlns:a="http://schemas.openxmlformats.org/drawingml/2006/main">
            <a:r>
              <a:t>Sources: https://eco-match-sepia.vercel.app/marketplace; src/app/product/[id]/page.tsx.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Seller ko har detail scratch se type nahi karni padti. Vision route category, description aur visible condition suggest karta hai. Seller confirmation important hai. Price guidance is an estimate and may use a fallback.</a:t>
            </a:r>
          </a:p>
          <a:p xmlns:a="http://schemas.openxmlformats.org/drawingml/2006/main">
            <a:r>
              <a:t/>
            </a:r>
          </a:p>
          <a:p xmlns:a="http://schemas.openxmlformats.org/drawingml/2006/main">
            <a:r>
              <a:t>Sources: src/app/seller/add-product/page.tsx; src/app/api/ai/analyze-product/route.ts; src/app/api/ai/price-intelligence/route.ts.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 Listing marketplace mein aane se pehle admin product details aur images review karta hai. AI risk buckets review priority ke liye hain. Final approval human decision hai.</a:t>
            </a:r>
          </a:p>
          <a:p xmlns:a="http://schemas.openxmlformats.org/drawingml/2006/main">
            <a:r>
              <a:t/>
            </a:r>
          </a:p>
          <a:p xmlns:a="http://schemas.openxmlformats.org/drawingml/2006/main">
            <a:r>
              <a:t>Sources: https://eco-match-sepia.vercel.app/admin; src/app/admin/page.tsx.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Buyer apni requirement natural language mein likhta hai. Relevant lots with match explanations appear. Match score is not a measured accuracy rate. The implementation has an AI path and a keyword fallback.</a:t>
            </a:r>
          </a:p>
          <a:p xmlns:a="http://schemas.openxmlformats.org/drawingml/2006/main">
            <a:r>
              <a:t/>
            </a:r>
          </a:p>
          <a:p xmlns:a="http://schemas.openxmlformats.org/drawingml/2006/main">
            <a:r>
              <a:t>Sources: https://eco-match-sepia.vercel.app/ai-match; src/app/api/ai/match/route.ts.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 Deal room trust ka practical part hai. Request, acceptance, meeting, handover verification aur completion ka sequence explain karein. Do not claim payment-provider escrow without integration evidence.</a:t>
            </a:r>
          </a:p>
          <a:p xmlns:a="http://schemas.openxmlformats.org/drawingml/2006/main">
            <a:r>
              <a:t/>
            </a:r>
          </a:p>
          <a:p xmlns:a="http://schemas.openxmlformats.org/drawingml/2006/main">
            <a:r>
              <a:t>Sources: src/app/deals/[id]/page.tsx; supabase/phase16_safe_deal_and_calling_system.sql.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Ownership-event trail ko explain karein. Hash linking is present in the design, but this is not a deployed decentralized network. Do not describe UI tamper simulation as an independent security audit.</a:t>
            </a:r>
          </a:p>
          <a:p xmlns:a="http://schemas.openxmlformats.org/drawingml/2006/main">
            <a:r>
              <a:t/>
            </a:r>
          </a:p>
          <a:p xmlns:a="http://schemas.openxmlformats.org/drawingml/2006/main">
            <a:r>
              <a:t>Sources: README.md; src/app/ledger/page.tsx; Supabase ownership_events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Seller aur buyer ke liye practical value alag explain karein. We have built these workflows, and the pilot will test whether they reduce effort and uncertainty. Avoid claiming measured savings until observed.</a:t>
            </a:r>
          </a:p>
          <a:p xmlns:a="http://schemas.openxmlformats.org/drawingml/2006/main">
            <a:r>
              <a:t/>
            </a:r>
          </a:p>
          <a:p xmlns:a="http://schemas.openxmlformats.org/drawingml/2006/main">
            <a:r>
              <a:t>Source: EcoMatch repository and deployed website, inspected 22–23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Proposed launch: ek compact local network mein relevant supply aur demand build karein. Broad categories product mein available hain, but pilot ko limited geography aur use cases par focus rakhenge. This is a proposed go-to-market plan, not current partnerships.</a:t>
            </a:r>
          </a:p>
          <a:p xmlns:a="http://schemas.openxmlformats.org/drawingml/2006/main">
            <a:r>
              <a:t/>
            </a:r>
          </a:p>
          <a:p xmlns:a="http://schemas.openxmlformats.org/drawingml/2006/main">
            <a:r>
              <a:t>Source: EcoMatch repository and deployed website, inspected 22–23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 Do proposed revenue options hain. Transaction fee tab viable hai jab completed exchange mein clear value ho. Pro tools repeat sellers ke liye. We have not assumed a fee percentage, current revenue or a forecast.</a:t>
            </a:r>
          </a:p>
          <a:p xmlns:a="http://schemas.openxmlformats.org/drawingml/2006/main">
            <a:r>
              <a:t/>
            </a:r>
          </a:p>
          <a:p xmlns:a="http://schemas.openxmlformats.org/drawingml/2006/main">
            <a:r>
              <a:t>Source: EcoMatch repository and deployed website, inspected 22–23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 Next ask is access to a local pilot network, early users and feedback. Proposed 90-day timeline: user observation and onboarding, live supported trials, then iteration. Targets should come from baseline data, not invented traction.</a:t>
            </a:r>
          </a:p>
          <a:p xmlns:a="http://schemas.openxmlformats.org/drawingml/2006/main">
            <a:r>
              <a:t/>
            </a:r>
          </a:p>
          <a:p xmlns:a="http://schemas.openxmlformats.org/drawingml/2006/main">
            <a:r>
              <a:t>Source: EcoMatch repository and deployed website, inspected 22–23 September 2026. https://eco-match-sepia.vercel.app/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 Team members introduce karein. Specific roles only mention karein if agreed within the team.</a:t>
            </a:r>
          </a:p>
          <a:p xmlns:a="http://schemas.openxmlformats.org/drawingml/2006/main">
            <a:r>
              <a:t/>
            </a:r>
          </a:p>
          <a:p xmlns:a="http://schemas.openxmlformats.org/drawingml/2006/main">
            <a:r>
              <a:t>Sources: Team name, member names and contact details provided by Janit Kumar Hind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 Close: EcoMatch is ready for a focused pilot. Invite the audience to open the live prototype and help validate the exchange journey.</a:t>
            </a:r>
          </a:p>
          <a:p xmlns:a="http://schemas.openxmlformats.org/drawingml/2006/main">
            <a:r>
              <a:t/>
            </a:r>
          </a:p>
          <a:p xmlns:a="http://schemas.openxmlformats.org/drawingml/2006/main">
            <a:r>
              <a:t>Sources: https://eco-match-sepia.vercel.app/; conceptual cover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main pitch. The public classifier is rules-based. Photo analysis and matching use external model routes with deterministic fallbacks. Pricing may use heuristics. Ledger records are hash-linked, not a decentralized blockchain. Certificates do not establish third-party regulatory certification.</a:t>
            </a:r>
          </a:p>
          <a:p xmlns:a="http://schemas.openxmlformats.org/drawingml/2006/main">
            <a:r>
              <a:t/>
            </a:r>
          </a:p>
          <a:p xmlns:a="http://schemas.openxmlformats.org/drawingml/2006/main">
            <a:r>
              <a:t>Sources: package.json; README.md; src/lib/wasteClassifier.ts; src/app/api/ai/*; src/app/api/deals/epr-certificate/route.ts; src/app/ledger/page.tsx.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870a18a554f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d40a83af634e3b" /><Relationship Type="http://schemas.openxmlformats.org/officeDocument/2006/relationships/slideLayout" Target="/ppt/slideLayouts/slideLayout1.xml" Id="R65d8859dedb246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d8859dedb246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1d866db6c54770" /><Relationship Type="http://schemas.openxmlformats.org/officeDocument/2006/relationships/image" Target="/ppt/media/image.png" Id="R70cfe47b01094d82" /><Relationship Type="http://schemas.openxmlformats.org/officeDocument/2006/relationships/notesSlide" Target="/ppt/notesSlides/notesSlide1.xml" Id="R44298b5e728e4f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f50eb326f24530" /><Relationship Type="http://schemas.openxmlformats.org/officeDocument/2006/relationships/notesSlide" Target="/ppt/notesSlides/notesSlide2.xml" Id="R4a8be27f64fa40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d8f773e08f4e33" /><Relationship Type="http://schemas.openxmlformats.org/officeDocument/2006/relationships/image" Target="/ppt/media/image.jpeg" Id="Rd550edaf45d14947" /><Relationship Type="http://schemas.openxmlformats.org/officeDocument/2006/relationships/notesSlide" Target="/ppt/notesSlides/notesSlide3.xml" Id="R91e6a228b7304c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0d4329790749fc" /><Relationship Type="http://schemas.openxmlformats.org/officeDocument/2006/relationships/image" Target="/ppt/media/image2.jpeg" Id="Re27f510a1e1943c8" /><Relationship Type="http://schemas.openxmlformats.org/officeDocument/2006/relationships/notesSlide" Target="/ppt/notesSlides/notesSlide4.xml" Id="R8ea1ae931a3e4b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70877d97394517" /><Relationship Type="http://schemas.openxmlformats.org/officeDocument/2006/relationships/image" Target="/ppt/media/image3.jpeg" Id="R76dc852654c742e1" /><Relationship Type="http://schemas.openxmlformats.org/officeDocument/2006/relationships/notesSlide" Target="/ppt/notesSlides/notesSlide5.xml" Id="R1097842d962842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39f91b8ff34e45" /><Relationship Type="http://schemas.openxmlformats.org/officeDocument/2006/relationships/image" Target="/ppt/media/image4.jpeg" Id="R14a87ce326f44641" /><Relationship Type="http://schemas.openxmlformats.org/officeDocument/2006/relationships/notesSlide" Target="/ppt/notesSlides/notesSlide6.xml" Id="Rde27d2ab5e9948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de5fa1c82e4964" /><Relationship Type="http://schemas.openxmlformats.org/officeDocument/2006/relationships/image" Target="/ppt/media/image5.jpeg" Id="R01608465bb944de2" /><Relationship Type="http://schemas.openxmlformats.org/officeDocument/2006/relationships/notesSlide" Target="/ppt/notesSlides/notesSlide7.xml" Id="R6240c9b5c16040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a80b3b373946c6" /><Relationship Type="http://schemas.openxmlformats.org/officeDocument/2006/relationships/image" Target="/ppt/media/image6.jpeg" Id="R11c6d24a7880441a" /><Relationship Type="http://schemas.openxmlformats.org/officeDocument/2006/relationships/notesSlide" Target="/ppt/notesSlides/notesSlide8.xml" Id="R304af03b099242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030953442d4879" /><Relationship Type="http://schemas.openxmlformats.org/officeDocument/2006/relationships/image" Target="/ppt/media/image7.jpeg" Id="R4517195f9dd04a6a" /><Relationship Type="http://schemas.openxmlformats.org/officeDocument/2006/relationships/notesSlide" Target="/ppt/notesSlides/notesSlide9.xml" Id="R10aabd9b560849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9355096f4c4f95" /><Relationship Type="http://schemas.openxmlformats.org/officeDocument/2006/relationships/notesSlide" Target="/ppt/notesSlides/notesSlide10.xml" Id="R1b5baf0bd4aa4c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db6656d1aa4a73" /><Relationship Type="http://schemas.openxmlformats.org/officeDocument/2006/relationships/notesSlide" Target="/ppt/notesSlides/notesSlide11.xml" Id="R1a70f2f35f7c46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eea6b5ba3c473f" /><Relationship Type="http://schemas.openxmlformats.org/officeDocument/2006/relationships/notesSlide" Target="/ppt/notesSlides/notesSlide12.xml" Id="R53b3efebd23c4f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6051ae82e74679" /><Relationship Type="http://schemas.openxmlformats.org/officeDocument/2006/relationships/notesSlide" Target="/ppt/notesSlides/notesSlide13.xml" Id="R0f169e9fa24049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8ca1151fa744ac" /><Relationship Type="http://schemas.openxmlformats.org/officeDocument/2006/relationships/notesSlide" Target="/ppt/notesSlides/notesSlide14.xml" Id="R9f7d17e6996a47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b6a19e7e844df2" /><Relationship Type="http://schemas.openxmlformats.org/officeDocument/2006/relationships/image" Target="/ppt/media/image2.png" Id="R74e2a2693c2c44c6" /><Relationship Type="http://schemas.openxmlformats.org/officeDocument/2006/relationships/notesSlide" Target="/ppt/notesSlides/notesSlide15.xml" Id="R4e53940e3cbe42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b98395904f44c2" /><Relationship Type="http://schemas.openxmlformats.org/officeDocument/2006/relationships/notesSlide" Target="/ppt/notesSlides/notesSlide16.xml" Id="Ref58df7bc7af454a" /></Relationships>
</file>

<file path=ppt/slides/slide1.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C98109AA-135D-42CD-AEFE-ECE7B52E03C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cfe47b01094d82"/>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3" name="EcoMatch">
            <a:extLst xmlns:a="http://schemas.openxmlformats.org/drawingml/2006/main">
              <a:ext uri="{FF2B5EF4-FFF2-40B4-BE49-F238E27FC236}">
                <a16:creationId xmlns:a16="http://schemas.microsoft.com/office/drawing/2014/main" id="{8D701D3D-77D7-44A8-A3E7-AC0413C5BA36}"/>
              </a:ext>
            </a:extLst>
          </p:cNvPr>
          <p:cNvSpPr>
            <a:spLocks xmlns:a="http://schemas.openxmlformats.org/drawingml/2006/main" noGrp="1"/>
          </p:cNvSpPr>
          <p:nvPr/>
        </p:nvSpPr>
        <p:spPr>
          <a:xfrm xmlns:a="http://schemas.openxmlformats.org/drawingml/2006/main">
            <a:off x="742950" y="1381125"/>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400" b="1">
                <a:solidFill>
                  <a:srgbClr val="F6F7EE"/>
                </a:solidFill>
                <a:latin typeface="Arial"/>
                <a:ea typeface="Arial"/>
                <a:cs typeface="Arial"/>
              </a:defRPr>
            </a:pPr>
            <a:r>
              <a:rPr sz="8400" b="1">
                <a:solidFill>
                  <a:srgbClr val="F6F7EE"/>
                </a:solidFill>
                <a:latin typeface="Arial"/>
                <a:ea typeface="Arial"/>
                <a:cs typeface="Arial"/>
              </a:rPr>
              <a:t>EcoMatch</a:t>
            </a:r>
          </a:p>
        </p:txBody>
      </p:sp>
      <p:sp>
        <p:nvSpPr>
          <p:cNvPr id="4" name="A better way&#10;to trade what&#10;already exists.">
            <a:extLst xmlns:a="http://schemas.openxmlformats.org/drawingml/2006/main">
              <a:ext uri="{FF2B5EF4-FFF2-40B4-BE49-F238E27FC236}">
                <a16:creationId xmlns:a16="http://schemas.microsoft.com/office/drawing/2014/main" id="{374F0243-D66E-4404-AB2B-AB15BCD7159F}"/>
              </a:ext>
            </a:extLst>
          </p:cNvPr>
          <p:cNvSpPr>
            <a:spLocks xmlns:a="http://schemas.openxmlformats.org/drawingml/2006/main" noGrp="1"/>
          </p:cNvSpPr>
          <p:nvPr/>
        </p:nvSpPr>
        <p:spPr>
          <a:xfrm xmlns:a="http://schemas.openxmlformats.org/drawingml/2006/main">
            <a:off x="762000" y="3228975"/>
            <a:ext cx="6286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A better way</a:t>
            </a:r>
          </a:p>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to trade what</a:t>
            </a:r>
          </a:p>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already exists.</a:t>
            </a:r>
          </a:p>
        </p:txBody>
      </p:sp>
      <p:sp>
        <p:nvSpPr>
          <p:cNvPr id="5" name="Circular material exchange">
            <a:extLst xmlns:a="http://schemas.openxmlformats.org/drawingml/2006/main">
              <a:ext uri="{FF2B5EF4-FFF2-40B4-BE49-F238E27FC236}">
                <a16:creationId xmlns:a16="http://schemas.microsoft.com/office/drawing/2014/main" id="{3BFAB128-5B83-49DD-A315-CC3AE571B2EE}"/>
              </a:ext>
            </a:extLst>
          </p:cNvPr>
          <p:cNvSpPr>
            <a:spLocks xmlns:a="http://schemas.openxmlformats.org/drawingml/2006/main" noGrp="1"/>
          </p:cNvSpPr>
          <p:nvPr/>
        </p:nvSpPr>
        <p:spPr>
          <a:xfrm xmlns:a="http://schemas.openxmlformats.org/drawingml/2006/main">
            <a:off x="781050" y="68961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F6F7EE"/>
                </a:solidFill>
                <a:latin typeface="Arial"/>
                <a:ea typeface="Arial"/>
                <a:cs typeface="Arial"/>
              </a:defRPr>
            </a:pPr>
            <a:r>
              <a:rPr sz="2250" b="0">
                <a:solidFill>
                  <a:srgbClr val="F6F7EE"/>
                </a:solidFill>
                <a:latin typeface="Arial"/>
                <a:ea typeface="Arial"/>
                <a:cs typeface="Arial"/>
              </a:rPr>
              <a:t>Circular material exchange</a:t>
            </a:r>
          </a:p>
        </p:txBody>
      </p:sp>
    </p:spTree>
    <p:extLst>
      <p:ext uri="{BB962C8B-B14F-4D97-AF65-F5344CB8AC3E}">
        <p14:creationId xmlns:p14="http://schemas.microsoft.com/office/powerpoint/2010/main" val="1245688354"/>
      </p:ext>
    </p:extLst>
  </p:cSld>
</p:sld>
</file>

<file path=ppt/slides/slide2.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9" name="Reuse needs a more dependable exchange">
            <a:extLst xmlns:a="http://schemas.openxmlformats.org/drawingml/2006/main">
              <a:ext uri="{FF2B5EF4-FFF2-40B4-BE49-F238E27FC236}">
                <a16:creationId xmlns:a16="http://schemas.microsoft.com/office/drawing/2014/main" id="{5FE54EF6-AFA6-45C1-A1B3-E0FBA6B0E6A4}"/>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Reuse needs a more dependable exchange</a:t>
            </a:r>
          </a:p>
        </p:txBody>
      </p:sp>
      <p:sp>
        <p:nvSpPr>
          <p:cNvPr id="2" name="02">
            <a:extLst xmlns:a="http://schemas.openxmlformats.org/drawingml/2006/main">
              <a:ext uri="{FF2B5EF4-FFF2-40B4-BE49-F238E27FC236}">
                <a16:creationId xmlns:a16="http://schemas.microsoft.com/office/drawing/2014/main" id="{2B7527D5-5CAD-4D0D-A097-144D41DE50EF}"/>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02</a:t>
            </a:r>
          </a:p>
        </p:txBody>
      </p:sp>
      <p:sp>
        <p:nvSpPr>
          <p:cNvPr id="3" name="3×">
            <a:extLst xmlns:a="http://schemas.openxmlformats.org/drawingml/2006/main">
              <a:ext uri="{FF2B5EF4-FFF2-40B4-BE49-F238E27FC236}">
                <a16:creationId xmlns:a16="http://schemas.microsoft.com/office/drawing/2014/main" id="{9862FD27-82F9-4A5F-9054-7ADEFC780543}"/>
              </a:ext>
            </a:extLst>
          </p:cNvPr>
          <p:cNvSpPr>
            <a:spLocks xmlns:a="http://schemas.openxmlformats.org/drawingml/2006/main" noGrp="1"/>
          </p:cNvSpPr>
          <p:nvPr/>
        </p:nvSpPr>
        <p:spPr>
          <a:xfrm xmlns:a="http://schemas.openxmlformats.org/drawingml/2006/main">
            <a:off x="742950" y="2295525"/>
            <a:ext cx="61436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400" b="1">
                <a:solidFill>
                  <a:srgbClr val="10251B"/>
                </a:solidFill>
                <a:latin typeface="Arial"/>
                <a:ea typeface="Arial"/>
                <a:cs typeface="Arial"/>
              </a:defRPr>
            </a:pPr>
            <a:r>
              <a:rPr sz="14400" b="1">
                <a:solidFill>
                  <a:srgbClr val="10251B"/>
                </a:solidFill>
                <a:latin typeface="Arial"/>
                <a:ea typeface="Arial"/>
                <a:cs typeface="Arial"/>
              </a:rPr>
              <a:t>3×</a:t>
            </a:r>
          </a:p>
        </p:txBody>
      </p:sp>
      <p:sp>
        <p:nvSpPr>
          <p:cNvPr id="4" name="Global resource extraction&#10;in the past five decades">
            <a:extLst xmlns:a="http://schemas.openxmlformats.org/drawingml/2006/main">
              <a:ext uri="{FF2B5EF4-FFF2-40B4-BE49-F238E27FC236}">
                <a16:creationId xmlns:a16="http://schemas.microsoft.com/office/drawing/2014/main" id="{3E177125-19F6-4564-A0E7-B9050A1EFB44}"/>
              </a:ext>
            </a:extLst>
          </p:cNvPr>
          <p:cNvSpPr>
            <a:spLocks xmlns:a="http://schemas.openxmlformats.org/drawingml/2006/main" noGrp="1"/>
          </p:cNvSpPr>
          <p:nvPr/>
        </p:nvSpPr>
        <p:spPr>
          <a:xfrm xmlns:a="http://schemas.openxmlformats.org/drawingml/2006/main">
            <a:off x="838200" y="4705350"/>
            <a:ext cx="6191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10251B"/>
                </a:solidFill>
                <a:latin typeface="Arial"/>
                <a:ea typeface="Arial"/>
                <a:cs typeface="Arial"/>
              </a:defRPr>
            </a:pPr>
            <a:r>
              <a:rPr sz="3150" b="0">
                <a:solidFill>
                  <a:srgbClr val="10251B"/>
                </a:solidFill>
                <a:latin typeface="Arial"/>
                <a:ea typeface="Arial"/>
                <a:cs typeface="Arial"/>
              </a:rPr>
              <a:t>Global resource extraction</a:t>
            </a:r>
          </a:p>
          <a:p xmlns:a="http://schemas.openxmlformats.org/drawingml/2006/main">
            <a:pPr>
              <a:defRPr sz="3150" b="0">
                <a:solidFill>
                  <a:srgbClr val="10251B"/>
                </a:solidFill>
                <a:latin typeface="Arial"/>
                <a:ea typeface="Arial"/>
                <a:cs typeface="Arial"/>
              </a:defRPr>
            </a:pPr>
            <a:r>
              <a:rPr sz="3150" b="0">
                <a:solidFill>
                  <a:srgbClr val="10251B"/>
                </a:solidFill>
                <a:latin typeface="Arial"/>
                <a:ea typeface="Arial"/>
                <a:cs typeface="Arial"/>
              </a:rPr>
              <a:t>in the past five decades</a:t>
            </a:r>
          </a:p>
        </p:txBody>
      </p:sp>
      <p:sp>
        <p:nvSpPr>
          <p:cNvPr id="5" name="THE LOCAL PROBLEM">
            <a:extLst xmlns:a="http://schemas.openxmlformats.org/drawingml/2006/main">
              <a:ext uri="{FF2B5EF4-FFF2-40B4-BE49-F238E27FC236}">
                <a16:creationId xmlns:a16="http://schemas.microsoft.com/office/drawing/2014/main" id="{36FD0A47-5CD8-42FA-8665-56198D4F9844}"/>
              </a:ext>
            </a:extLst>
          </p:cNvPr>
          <p:cNvSpPr>
            <a:spLocks xmlns:a="http://schemas.openxmlformats.org/drawingml/2006/main" noGrp="1"/>
          </p:cNvSpPr>
          <p:nvPr/>
        </p:nvSpPr>
        <p:spPr>
          <a:xfrm xmlns:a="http://schemas.openxmlformats.org/drawingml/2006/main">
            <a:off x="8248650" y="21812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THE LOCAL PROBLEM</a:t>
            </a:r>
          </a:p>
        </p:txBody>
      </p:sp>
      <p:sp>
        <p:nvSpPr>
          <p:cNvPr id="6" name="Sellers need a next owner.&#10;Buyers need a reliable lot.">
            <a:extLst xmlns:a="http://schemas.openxmlformats.org/drawingml/2006/main">
              <a:ext uri="{FF2B5EF4-FFF2-40B4-BE49-F238E27FC236}">
                <a16:creationId xmlns:a16="http://schemas.microsoft.com/office/drawing/2014/main" id="{2A08DF6B-0B95-4F98-9067-4B5ABB59464F}"/>
              </a:ext>
            </a:extLst>
          </p:cNvPr>
          <p:cNvSpPr>
            <a:spLocks xmlns:a="http://schemas.openxmlformats.org/drawingml/2006/main" noGrp="1"/>
          </p:cNvSpPr>
          <p:nvPr/>
        </p:nvSpPr>
        <p:spPr>
          <a:xfrm xmlns:a="http://schemas.openxmlformats.org/drawingml/2006/main">
            <a:off x="8248650" y="2952750"/>
            <a:ext cx="6019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0251B"/>
                </a:solidFill>
                <a:latin typeface="Arial"/>
                <a:ea typeface="Arial"/>
                <a:cs typeface="Arial"/>
              </a:defRPr>
            </a:pPr>
            <a:r>
              <a:rPr sz="3150" b="1">
                <a:solidFill>
                  <a:srgbClr val="10251B"/>
                </a:solidFill>
                <a:latin typeface="Arial"/>
                <a:ea typeface="Arial"/>
                <a:cs typeface="Arial"/>
              </a:rPr>
              <a:t>Sellers need a next owner.</a:t>
            </a:r>
          </a:p>
          <a:p xmlns:a="http://schemas.openxmlformats.org/drawingml/2006/main">
            <a:pPr>
              <a:defRPr sz="3150" b="1">
                <a:solidFill>
                  <a:srgbClr val="10251B"/>
                </a:solidFill>
                <a:latin typeface="Arial"/>
                <a:ea typeface="Arial"/>
                <a:cs typeface="Arial"/>
              </a:defRPr>
            </a:pPr>
            <a:r>
              <a:rPr sz="3150" b="1">
                <a:solidFill>
                  <a:srgbClr val="10251B"/>
                </a:solidFill>
                <a:latin typeface="Arial"/>
                <a:ea typeface="Arial"/>
                <a:cs typeface="Arial"/>
              </a:rPr>
              <a:t>Buyers need a reliable lot.</a:t>
            </a:r>
          </a:p>
        </p:txBody>
      </p:sp>
      <p:sp>
        <p:nvSpPr>
          <p:cNvPr id="7" name="Unclear condition, uncertain value&#10;and a difficult hand">
            <a:extLst xmlns:a="http://schemas.openxmlformats.org/drawingml/2006/main">
              <a:ext uri="{FF2B5EF4-FFF2-40B4-BE49-F238E27FC236}">
                <a16:creationId xmlns:a16="http://schemas.microsoft.com/office/drawing/2014/main" id="{0FC6A9CA-3C80-4C5B-B622-7F0DF095A8EA}"/>
              </a:ext>
            </a:extLst>
          </p:cNvPr>
          <p:cNvSpPr>
            <a:spLocks xmlns:a="http://schemas.openxmlformats.org/drawingml/2006/main" noGrp="1"/>
          </p:cNvSpPr>
          <p:nvPr/>
        </p:nvSpPr>
        <p:spPr>
          <a:xfrm xmlns:a="http://schemas.openxmlformats.org/drawingml/2006/main">
            <a:off x="8248650" y="4895850"/>
            <a:ext cx="60102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Unclear condition, uncertain value</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and a difficult handover can keep</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reusable stock from moving.</a:t>
            </a:r>
          </a:p>
        </p:txBody>
      </p:sp>
      <p:sp>
        <p:nvSpPr>
          <p:cNvPr id="8" name="Resource statistic: UNEP, Global Resources Outlook 2024">
            <a:extLst xmlns:a="http://schemas.openxmlformats.org/drawingml/2006/main">
              <a:ext uri="{FF2B5EF4-FFF2-40B4-BE49-F238E27FC236}">
                <a16:creationId xmlns:a16="http://schemas.microsoft.com/office/drawing/2014/main" id="{608A3E86-8CFA-43C4-9812-0461F355BB90}"/>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Resource statistic: UNEP, Global Resources Outlook 2024. Local problem framing is a product hypothesis.</a:t>
            </a:r>
          </a:p>
        </p:txBody>
      </p:sp>
    </p:spTree>
    <p:extLst>
      <p:ext uri="{BB962C8B-B14F-4D97-AF65-F5344CB8AC3E}">
        <p14:creationId xmlns:p14="http://schemas.microsoft.com/office/powerpoint/2010/main" val="1842970593"/>
      </p:ext>
    </p:extLst>
  </p:cSld>
</p:sld>
</file>

<file path=ppt/slides/slide3.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EcoMatch connects discovery with exchange">
            <a:extLst xmlns:a="http://schemas.openxmlformats.org/drawingml/2006/main">
              <a:ext uri="{FF2B5EF4-FFF2-40B4-BE49-F238E27FC236}">
                <a16:creationId xmlns:a16="http://schemas.microsoft.com/office/drawing/2014/main" id="{163C665D-18C4-48C5-A332-B3B484E6E3D3}"/>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EcoMatch connects discovery with exchange</a:t>
            </a:r>
          </a:p>
        </p:txBody>
      </p:sp>
      <p:sp>
        <p:nvSpPr>
          <p:cNvPr id="2" name="03">
            <a:extLst xmlns:a="http://schemas.openxmlformats.org/drawingml/2006/main">
              <a:ext uri="{FF2B5EF4-FFF2-40B4-BE49-F238E27FC236}">
                <a16:creationId xmlns:a16="http://schemas.microsoft.com/office/drawing/2014/main" id="{FFB30589-F790-4C00-BA25-AC8C5BA4D0A0}"/>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03</a:t>
            </a:r>
          </a:p>
        </p:txBody>
      </p:sp>
      <p:sp>
        <p:nvSpPr>
          <p:cNvPr id="3" name="Usable stock.&#10;A relevant buyer.&#10;A clear next step.">
            <a:extLst xmlns:a="http://schemas.openxmlformats.org/drawingml/2006/main">
              <a:ext uri="{FF2B5EF4-FFF2-40B4-BE49-F238E27FC236}">
                <a16:creationId xmlns:a16="http://schemas.microsoft.com/office/drawing/2014/main" id="{6D0D252B-0341-403C-8B49-89B87B6952DF}"/>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Usable stock.</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relevant buyer.</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clear next step.</a:t>
            </a:r>
          </a:p>
        </p:txBody>
      </p:sp>
      <p:sp>
        <p:nvSpPr>
          <p:cNvPr id="4" name="A marketplace for surplus materials and reusable equipm">
            <a:extLst xmlns:a="http://schemas.openxmlformats.org/drawingml/2006/main">
              <a:ext uri="{FF2B5EF4-FFF2-40B4-BE49-F238E27FC236}">
                <a16:creationId xmlns:a16="http://schemas.microsoft.com/office/drawing/2014/main" id="{E3EBA2C4-9B0B-4867-A899-A35094204940}"/>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 marketplace for surplus materials and reusable equipment, with AI assistance and a shared deal flow.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550edaf45d14947"/>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Deployed web prototype: eco-match-sepia.vercel.app">
            <a:extLst xmlns:a="http://schemas.openxmlformats.org/drawingml/2006/main">
              <a:ext uri="{FF2B5EF4-FFF2-40B4-BE49-F238E27FC236}">
                <a16:creationId xmlns:a16="http://schemas.microsoft.com/office/drawing/2014/main" id="{05A35C0A-9774-4E9C-B0F0-5FB3FA94E335}"/>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Deployed web prototype: eco-match-sepia.vercel.app</a:t>
            </a:r>
          </a:p>
        </p:txBody>
      </p:sp>
    </p:spTree>
    <p:extLst>
      <p:ext uri="{BB962C8B-B14F-4D97-AF65-F5344CB8AC3E}">
        <p14:creationId xmlns:p14="http://schemas.microsoft.com/office/powerpoint/2010/main" val="1600460272"/>
      </p:ext>
    </p:extLst>
  </p:cSld>
</p:sld>
</file>

<file path=ppt/slides/slide4.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Material details before the first conversation">
            <a:extLst xmlns:a="http://schemas.openxmlformats.org/drawingml/2006/main">
              <a:ext uri="{FF2B5EF4-FFF2-40B4-BE49-F238E27FC236}">
                <a16:creationId xmlns:a16="http://schemas.microsoft.com/office/drawing/2014/main" id="{438000F6-E6B5-42AD-9313-0626E6434FE1}"/>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Material details before the first conversation</a:t>
            </a:r>
          </a:p>
        </p:txBody>
      </p:sp>
      <p:sp>
        <p:nvSpPr>
          <p:cNvPr id="2" name="04">
            <a:extLst xmlns:a="http://schemas.openxmlformats.org/drawingml/2006/main">
              <a:ext uri="{FF2B5EF4-FFF2-40B4-BE49-F238E27FC236}">
                <a16:creationId xmlns:a16="http://schemas.microsoft.com/office/drawing/2014/main" id="{9C28BF0F-BEA5-45CA-9E92-15A56B06DA7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04</a:t>
            </a:r>
          </a:p>
        </p:txBody>
      </p:sp>
      <p:sp>
        <p:nvSpPr>
          <p:cNvPr id="3" name="Assess the lot&#10;before the deal">
            <a:extLst xmlns:a="http://schemas.openxmlformats.org/drawingml/2006/main">
              <a:ext uri="{FF2B5EF4-FFF2-40B4-BE49-F238E27FC236}">
                <a16:creationId xmlns:a16="http://schemas.microsoft.com/office/drawing/2014/main" id="{90D91A4B-CC77-4EBE-8E18-9EBDEE14841C}"/>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Assess the lot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the deal</a:t>
            </a:r>
          </a:p>
        </p:txBody>
      </p:sp>
      <p:sp>
        <p:nvSpPr>
          <p:cNvPr id="4" name="Review photos and specifications. Check available quant">
            <a:extLst xmlns:a="http://schemas.openxmlformats.org/drawingml/2006/main">
              <a:ext uri="{FF2B5EF4-FFF2-40B4-BE49-F238E27FC236}">
                <a16:creationId xmlns:a16="http://schemas.microsoft.com/office/drawing/2014/main" id="{326F24DD-BF85-40B2-9EB9-624C69C811E2}"/>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Review photos and specifications. Check available quantity. See the asking price. Then contact the seller.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27f510a1e1943c8"/>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Actual product interface. Listing information still nee">
            <a:extLst xmlns:a="http://schemas.openxmlformats.org/drawingml/2006/main">
              <a:ext uri="{FF2B5EF4-FFF2-40B4-BE49-F238E27FC236}">
                <a16:creationId xmlns:a16="http://schemas.microsoft.com/office/drawing/2014/main" id="{809C0113-1ED6-47B2-BB0D-810181433208}"/>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Actual product interface. Listing information still needs physical inspection.</a:t>
            </a:r>
          </a:p>
        </p:txBody>
      </p:sp>
    </p:spTree>
    <p:extLst>
      <p:ext uri="{BB962C8B-B14F-4D97-AF65-F5344CB8AC3E}">
        <p14:creationId xmlns:p14="http://schemas.microsoft.com/office/powerpoint/2010/main" val="1606266329"/>
      </p:ext>
    </p:extLst>
  </p:cSld>
</p:sld>
</file>

<file path=ppt/slides/slide5.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I assistance makes listing easier">
            <a:extLst xmlns:a="http://schemas.openxmlformats.org/drawingml/2006/main">
              <a:ext uri="{FF2B5EF4-FFF2-40B4-BE49-F238E27FC236}">
                <a16:creationId xmlns:a16="http://schemas.microsoft.com/office/drawing/2014/main" id="{675F0636-6DB9-4881-8A21-46351C75A301}"/>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AI assistance makes listing easier</a:t>
            </a:r>
          </a:p>
        </p:txBody>
      </p:sp>
      <p:sp>
        <p:nvSpPr>
          <p:cNvPr id="2" name="05">
            <a:extLst xmlns:a="http://schemas.openxmlformats.org/drawingml/2006/main">
              <a:ext uri="{FF2B5EF4-FFF2-40B4-BE49-F238E27FC236}">
                <a16:creationId xmlns:a16="http://schemas.microsoft.com/office/drawing/2014/main" id="{B0439C9F-D19E-476A-B135-2458429A4D2F}"/>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05</a:t>
            </a:r>
          </a:p>
        </p:txBody>
      </p:sp>
      <p:sp>
        <p:nvSpPr>
          <p:cNvPr id="3" name="Less effort&#10;to describe&#10;an asset">
            <a:extLst xmlns:a="http://schemas.openxmlformats.org/drawingml/2006/main">
              <a:ext uri="{FF2B5EF4-FFF2-40B4-BE49-F238E27FC236}">
                <a16:creationId xmlns:a16="http://schemas.microsoft.com/office/drawing/2014/main" id="{0A4940F5-0EFB-45FE-9244-A93C75CD8664}"/>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Less effort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to describe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an asset</a:t>
            </a:r>
          </a:p>
        </p:txBody>
      </p:sp>
      <p:sp>
        <p:nvSpPr>
          <p:cNvPr id="4" name="Photo analysis suggests product details and condition c">
            <a:extLst xmlns:a="http://schemas.openxmlformats.org/drawingml/2006/main">
              <a:ext uri="{FF2B5EF4-FFF2-40B4-BE49-F238E27FC236}">
                <a16:creationId xmlns:a16="http://schemas.microsoft.com/office/drawing/2014/main" id="{2947BAD5-7E35-456E-AFD7-C922BCA80464}"/>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Photo analysis suggests product details and condition cues. The seller reviews the listing and sets the asking price.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6dc852654c742e1"/>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AI suggestions support the seller. They do not certify ">
            <a:extLst xmlns:a="http://schemas.openxmlformats.org/drawingml/2006/main">
              <a:ext uri="{FF2B5EF4-FFF2-40B4-BE49-F238E27FC236}">
                <a16:creationId xmlns:a16="http://schemas.microsoft.com/office/drawing/2014/main" id="{ABECFBD4-F3D0-411F-9787-1584CC2FB902}"/>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AI suggestions support the seller. They do not certify hidden condition or performance.</a:t>
            </a:r>
          </a:p>
        </p:txBody>
      </p:sp>
    </p:spTree>
    <p:extLst>
      <p:ext uri="{BB962C8B-B14F-4D97-AF65-F5344CB8AC3E}">
        <p14:creationId xmlns:p14="http://schemas.microsoft.com/office/powerpoint/2010/main" val="1330408606"/>
      </p:ext>
    </p:extLst>
  </p:cSld>
</p:sld>
</file>

<file path=ppt/slides/slide6.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Human review before marketplace approval">
            <a:extLst xmlns:a="http://schemas.openxmlformats.org/drawingml/2006/main">
              <a:ext uri="{FF2B5EF4-FFF2-40B4-BE49-F238E27FC236}">
                <a16:creationId xmlns:a16="http://schemas.microsoft.com/office/drawing/2014/main" id="{170981A8-0DD9-4694-A6FE-194AF1943EC3}"/>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Human review before marketplace approval</a:t>
            </a:r>
          </a:p>
        </p:txBody>
      </p:sp>
      <p:sp>
        <p:nvSpPr>
          <p:cNvPr id="2" name="06">
            <a:extLst xmlns:a="http://schemas.openxmlformats.org/drawingml/2006/main">
              <a:ext uri="{FF2B5EF4-FFF2-40B4-BE49-F238E27FC236}">
                <a16:creationId xmlns:a16="http://schemas.microsoft.com/office/drawing/2014/main" id="{382A6114-C450-4BF5-B226-76D4B6CA00EB}"/>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06</a:t>
            </a:r>
          </a:p>
        </p:txBody>
      </p:sp>
      <p:sp>
        <p:nvSpPr>
          <p:cNvPr id="3" name="A review step&#10;before publication">
            <a:extLst xmlns:a="http://schemas.openxmlformats.org/drawingml/2006/main">
              <a:ext uri="{FF2B5EF4-FFF2-40B4-BE49-F238E27FC236}">
                <a16:creationId xmlns:a16="http://schemas.microsoft.com/office/drawing/2014/main" id="{9192165B-AC8B-48A9-AA9D-F4174EF5E977}"/>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 review step</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publication</a:t>
            </a:r>
          </a:p>
        </p:txBody>
      </p:sp>
      <p:sp>
        <p:nvSpPr>
          <p:cNvPr id="4" name="Admins inspect the product photos and submitted details">
            <a:extLst xmlns:a="http://schemas.openxmlformats.org/drawingml/2006/main">
              <a:ext uri="{FF2B5EF4-FFF2-40B4-BE49-F238E27FC236}">
                <a16:creationId xmlns:a16="http://schemas.microsoft.com/office/drawing/2014/main" id="{2215CD61-5F7A-43F2-8508-B663204F597A}"/>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Admins inspect the product photos and submitted details. Risk signals help prioritize review. A person approves or rejects.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4a87ce326f44641"/>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Actual moderation interface. Automated risk scores help">
            <a:extLst xmlns:a="http://schemas.openxmlformats.org/drawingml/2006/main">
              <a:ext uri="{FF2B5EF4-FFF2-40B4-BE49-F238E27FC236}">
                <a16:creationId xmlns:a16="http://schemas.microsoft.com/office/drawing/2014/main" id="{DE0FB987-83BB-4345-BCA9-A80C32506F22}"/>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Actual moderation interface. Automated risk scores help prioritize review.</a:t>
            </a:r>
          </a:p>
        </p:txBody>
      </p:sp>
    </p:spTree>
    <p:extLst>
      <p:ext uri="{BB962C8B-B14F-4D97-AF65-F5344CB8AC3E}">
        <p14:creationId xmlns:p14="http://schemas.microsoft.com/office/powerpoint/2010/main" val="709977460"/>
      </p:ext>
    </p:extLst>
  </p:cSld>
</p:sld>
</file>

<file path=ppt/slides/slide7.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Buyers can search in their own words">
            <a:extLst xmlns:a="http://schemas.openxmlformats.org/drawingml/2006/main">
              <a:ext uri="{FF2B5EF4-FFF2-40B4-BE49-F238E27FC236}">
                <a16:creationId xmlns:a16="http://schemas.microsoft.com/office/drawing/2014/main" id="{32060FD1-0847-479C-803A-D9EDA690B5CF}"/>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Buyers can search in their own words</a:t>
            </a:r>
          </a:p>
        </p:txBody>
      </p:sp>
      <p:sp>
        <p:nvSpPr>
          <p:cNvPr id="2" name="07">
            <a:extLst xmlns:a="http://schemas.openxmlformats.org/drawingml/2006/main">
              <a:ext uri="{FF2B5EF4-FFF2-40B4-BE49-F238E27FC236}">
                <a16:creationId xmlns:a16="http://schemas.microsoft.com/office/drawing/2014/main" id="{39BB5545-CB14-4A85-AC21-C22D1EA25712}"/>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07</a:t>
            </a:r>
          </a:p>
        </p:txBody>
      </p:sp>
      <p:sp>
        <p:nvSpPr>
          <p:cNvPr id="3" name="Describe&#10;what you need">
            <a:extLst xmlns:a="http://schemas.openxmlformats.org/drawingml/2006/main">
              <a:ext uri="{FF2B5EF4-FFF2-40B4-BE49-F238E27FC236}">
                <a16:creationId xmlns:a16="http://schemas.microsoft.com/office/drawing/2014/main" id="{8E627C16-7EC0-4ACD-BC2D-CA6712C1360D}"/>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Describe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what you need</a:t>
            </a:r>
          </a:p>
        </p:txBody>
      </p:sp>
      <p:sp>
        <p:nvSpPr>
          <p:cNvPr id="4" name="Enter the material or use case in English or Hinglish. ">
            <a:extLst xmlns:a="http://schemas.openxmlformats.org/drawingml/2006/main">
              <a:ext uri="{FF2B5EF4-FFF2-40B4-BE49-F238E27FC236}">
                <a16:creationId xmlns:a16="http://schemas.microsoft.com/office/drawing/2014/main" id="{A76521A9-E5A4-4202-9C53-E7B44BC7DC34}"/>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Enter the material or use case in English or Hinglish. Review suggested lots and check the fit.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1608465bb944de2"/>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Matching suggestions are advisory. Buyers verify quanti">
            <a:extLst xmlns:a="http://schemas.openxmlformats.org/drawingml/2006/main">
              <a:ext uri="{FF2B5EF4-FFF2-40B4-BE49-F238E27FC236}">
                <a16:creationId xmlns:a16="http://schemas.microsoft.com/office/drawing/2014/main" id="{48F70589-5615-4595-89D6-3BE994E76C8E}"/>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Matching suggestions are advisory. Buyers verify quantity, budget and suitability.</a:t>
            </a:r>
          </a:p>
        </p:txBody>
      </p:sp>
    </p:spTree>
    <p:extLst>
      <p:ext uri="{BB962C8B-B14F-4D97-AF65-F5344CB8AC3E}">
        <p14:creationId xmlns:p14="http://schemas.microsoft.com/office/powerpoint/2010/main" val="54219980"/>
      </p:ext>
    </p:extLst>
  </p:cSld>
</p:sld>
</file>

<file path=ppt/slides/slide8.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 shared path to physical handover">
            <a:extLst xmlns:a="http://schemas.openxmlformats.org/drawingml/2006/main">
              <a:ext uri="{FF2B5EF4-FFF2-40B4-BE49-F238E27FC236}">
                <a16:creationId xmlns:a16="http://schemas.microsoft.com/office/drawing/2014/main" id="{D69FE6D6-EAE1-4E6B-ABD7-AB54ED99BB9F}"/>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 shared path to physical handover</a:t>
            </a:r>
          </a:p>
        </p:txBody>
      </p:sp>
      <p:sp>
        <p:nvSpPr>
          <p:cNvPr id="2" name="08">
            <a:extLst xmlns:a="http://schemas.openxmlformats.org/drawingml/2006/main">
              <a:ext uri="{FF2B5EF4-FFF2-40B4-BE49-F238E27FC236}">
                <a16:creationId xmlns:a16="http://schemas.microsoft.com/office/drawing/2014/main" id="{FFE6AFA2-4626-4AF9-8A14-32DCBFF3A364}"/>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08</a:t>
            </a:r>
          </a:p>
        </p:txBody>
      </p:sp>
      <p:sp>
        <p:nvSpPr>
          <p:cNvPr id="3" name="Agreement&#10;before pickup">
            <a:extLst xmlns:a="http://schemas.openxmlformats.org/drawingml/2006/main">
              <a:ext uri="{FF2B5EF4-FFF2-40B4-BE49-F238E27FC236}">
                <a16:creationId xmlns:a16="http://schemas.microsoft.com/office/drawing/2014/main" id="{171338AB-D2B3-4E45-8D7C-714BC92B9251}"/>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Agreement</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before pickup</a:t>
            </a:r>
          </a:p>
        </p:txBody>
      </p:sp>
      <p:sp>
        <p:nvSpPr>
          <p:cNvPr id="4" name="A deal records both participants. Meeting details guide">
            <a:extLst xmlns:a="http://schemas.openxmlformats.org/drawingml/2006/main">
              <a:ext uri="{FF2B5EF4-FFF2-40B4-BE49-F238E27FC236}">
                <a16:creationId xmlns:a16="http://schemas.microsoft.com/office/drawing/2014/main" id="{C578F33F-6545-43EF-8A09-24418CCB15E3}"/>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A deal records both participants. Meeting details guide the exchange. QR / OTP checks support handover. Both sides confirm completion.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1c6d24a7880441a"/>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Prototype handover workflow. Payment-provider escrow is">
            <a:extLst xmlns:a="http://schemas.openxmlformats.org/drawingml/2006/main">
              <a:ext uri="{FF2B5EF4-FFF2-40B4-BE49-F238E27FC236}">
                <a16:creationId xmlns:a16="http://schemas.microsoft.com/office/drawing/2014/main" id="{6D2B9068-B8C4-4D6D-AE02-DB5DB6B88BF3}"/>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Prototype handover workflow. Payment-provider escrow is a separate production requirement.</a:t>
            </a:r>
          </a:p>
        </p:txBody>
      </p:sp>
    </p:spTree>
    <p:extLst>
      <p:ext uri="{BB962C8B-B14F-4D97-AF65-F5344CB8AC3E}">
        <p14:creationId xmlns:p14="http://schemas.microsoft.com/office/powerpoint/2010/main" val="88346456"/>
      </p:ext>
    </p:extLst>
  </p:cSld>
</p:sld>
</file>

<file path=ppt/slides/slide9.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A record beyond the conversation">
            <a:extLst xmlns:a="http://schemas.openxmlformats.org/drawingml/2006/main">
              <a:ext uri="{FF2B5EF4-FFF2-40B4-BE49-F238E27FC236}">
                <a16:creationId xmlns:a16="http://schemas.microsoft.com/office/drawing/2014/main" id="{6782A359-ABCE-47E1-A1AB-2BB7D7501BBB}"/>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A record beyond the conversation</a:t>
            </a:r>
          </a:p>
        </p:txBody>
      </p:sp>
      <p:sp>
        <p:nvSpPr>
          <p:cNvPr id="2" name="09">
            <a:extLst xmlns:a="http://schemas.openxmlformats.org/drawingml/2006/main">
              <a:ext uri="{FF2B5EF4-FFF2-40B4-BE49-F238E27FC236}">
                <a16:creationId xmlns:a16="http://schemas.microsoft.com/office/drawing/2014/main" id="{F25CA53F-B0A0-4FC3-9B6B-9DD3AB20E46B}"/>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09</a:t>
            </a:r>
          </a:p>
        </p:txBody>
      </p:sp>
      <p:sp>
        <p:nvSpPr>
          <p:cNvPr id="3" name="Traceable&#10;ownership&#10;events">
            <a:extLst xmlns:a="http://schemas.openxmlformats.org/drawingml/2006/main">
              <a:ext uri="{FF2B5EF4-FFF2-40B4-BE49-F238E27FC236}">
                <a16:creationId xmlns:a16="http://schemas.microsoft.com/office/drawing/2014/main" id="{B6546308-25F3-4950-86E4-735219499BD5}"/>
              </a:ext>
            </a:extLst>
          </p:cNvPr>
          <p:cNvSpPr>
            <a:spLocks xmlns:a="http://schemas.openxmlformats.org/drawingml/2006/main" noGrp="1"/>
          </p:cNvSpPr>
          <p:nvPr/>
        </p:nvSpPr>
        <p:spPr>
          <a:xfrm xmlns:a="http://schemas.openxmlformats.org/drawingml/2006/main">
            <a:off x="742950" y="23241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Traceable</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ownership</a:t>
            </a:r>
          </a:p>
          <a:p xmlns:a="http://schemas.openxmlformats.org/drawingml/2006/main">
            <a:pPr>
              <a:defRPr sz="3675" b="1">
                <a:solidFill>
                  <a:srgbClr val="B9FF66"/>
                </a:solidFill>
                <a:latin typeface="Arial"/>
                <a:ea typeface="Arial"/>
                <a:cs typeface="Arial"/>
              </a:defRPr>
            </a:pPr>
            <a:r>
              <a:rPr sz="3675" b="1">
                <a:solidFill>
                  <a:srgbClr val="B9FF66"/>
                </a:solidFill>
                <a:latin typeface="Arial"/>
                <a:ea typeface="Arial"/>
                <a:cs typeface="Arial"/>
              </a:rPr>
              <a:t>events</a:t>
            </a:r>
          </a:p>
        </p:txBody>
      </p:sp>
      <p:sp>
        <p:nvSpPr>
          <p:cNvPr id="4" name="The ledger displays ownership events and linked hashes.">
            <a:extLst xmlns:a="http://schemas.openxmlformats.org/drawingml/2006/main">
              <a:ext uri="{FF2B5EF4-FFF2-40B4-BE49-F238E27FC236}">
                <a16:creationId xmlns:a16="http://schemas.microsoft.com/office/drawing/2014/main" id="{63AA0A77-976D-460B-9C0C-5BD5D56C629F}"/>
              </a:ext>
            </a:extLst>
          </p:cNvPr>
          <p:cNvSpPr>
            <a:spLocks xmlns:a="http://schemas.openxmlformats.org/drawingml/2006/main" noGrp="1"/>
          </p:cNvSpPr>
          <p:nvPr/>
        </p:nvSpPr>
        <p:spPr>
          <a:xfrm xmlns:a="http://schemas.openxmlformats.org/drawingml/2006/main">
            <a:off x="742950" y="443865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6F7EE"/>
                </a:solidFill>
                <a:latin typeface="Arial"/>
                <a:ea typeface="Arial"/>
                <a:cs typeface="Arial"/>
              </a:defRPr>
            </a:pPr>
            <a:r>
              <a:rPr sz="2400" b="0">
                <a:solidFill>
                  <a:srgbClr val="F6F7EE"/>
                </a:solidFill>
                <a:latin typeface="Arial"/>
                <a:ea typeface="Arial"/>
                <a:cs typeface="Arial"/>
              </a:rPr>
              <a:t>The ledger displays ownership events and linked hashes. It gives the exchange a record that can be referenced later.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517195f9dd04a6a"/>
          <a:stretch xmlns:a="http://schemas.openxmlformats.org/drawingml/2006/main"/>
        </p:blipFill>
        <p:spPr>
          <a:xfrm xmlns:a="http://schemas.openxmlformats.org/drawingml/2006/main">
            <a:off x="6835486" y="2028825"/>
            <a:ext cx="7055427" cy="5543550"/>
          </a:xfrm>
          <a:prstGeom xmlns:a="http://schemas.openxmlformats.org/drawingml/2006/main" prst="rect">
            <a:avLst/>
          </a:prstGeom>
        </p:spPr>
      </p:pic>
      <p:sp>
        <p:nvSpPr>
          <p:cNvPr id="6" name="SHA-256 linked-record prototype. A decentralized blockc">
            <a:extLst xmlns:a="http://schemas.openxmlformats.org/drawingml/2006/main">
              <a:ext uri="{FF2B5EF4-FFF2-40B4-BE49-F238E27FC236}">
                <a16:creationId xmlns:a16="http://schemas.microsoft.com/office/drawing/2014/main" id="{F2D028E2-D304-449C-B871-40DEB8BB8C25}"/>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SHA-256 linked-record prototype. A decentralized blockchain is a future option.</a:t>
            </a:r>
          </a:p>
        </p:txBody>
      </p:sp>
    </p:spTree>
    <p:extLst>
      <p:ext uri="{BB962C8B-B14F-4D97-AF65-F5344CB8AC3E}">
        <p14:creationId xmlns:p14="http://schemas.microsoft.com/office/powerpoint/2010/main" val="6813196"/>
      </p:ext>
    </p:extLst>
  </p:cSld>
</p:sld>
</file>

<file path=ppt/slides/slide10.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10" name="Why users would choose EcoMatch">
            <a:extLst xmlns:a="http://schemas.openxmlformats.org/drawingml/2006/main">
              <a:ext uri="{FF2B5EF4-FFF2-40B4-BE49-F238E27FC236}">
                <a16:creationId xmlns:a16="http://schemas.microsoft.com/office/drawing/2014/main" id="{3BC1C000-FF97-4FB2-862F-54DBD372C16A}"/>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Why users would choose EcoMatch</a:t>
            </a:r>
          </a:p>
        </p:txBody>
      </p:sp>
      <p:sp>
        <p:nvSpPr>
          <p:cNvPr id="2" name="10">
            <a:extLst xmlns:a="http://schemas.openxmlformats.org/drawingml/2006/main">
              <a:ext uri="{FF2B5EF4-FFF2-40B4-BE49-F238E27FC236}">
                <a16:creationId xmlns:a16="http://schemas.microsoft.com/office/drawing/2014/main" id="{BF77208E-5EB9-43F5-86D6-E6C0329F0906}"/>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10</a:t>
            </a:r>
          </a:p>
        </p:txBody>
      </p:sp>
      <p:sp>
        <p:nvSpPr>
          <p:cNvPr id="3" name="FOR SELLERS">
            <a:extLst xmlns:a="http://schemas.openxmlformats.org/drawingml/2006/main">
              <a:ext uri="{FF2B5EF4-FFF2-40B4-BE49-F238E27FC236}">
                <a16:creationId xmlns:a16="http://schemas.microsoft.com/office/drawing/2014/main" id="{44B0900A-EABD-4F8F-AD18-98EBB9904CEE}"/>
              </a:ext>
            </a:extLst>
          </p:cNvPr>
          <p:cNvSpPr>
            <a:spLocks xmlns:a="http://schemas.openxmlformats.org/drawingml/2006/main" noGrp="1"/>
          </p:cNvSpPr>
          <p:nvPr/>
        </p:nvSpPr>
        <p:spPr>
          <a:xfrm xmlns:a="http://schemas.openxmlformats.org/drawingml/2006/main">
            <a:off x="742950" y="21812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FOR SELLERS</a:t>
            </a:r>
          </a:p>
        </p:txBody>
      </p:sp>
      <p:sp>
        <p:nvSpPr>
          <p:cNvPr id="4" name="FOR BUYERS">
            <a:extLst xmlns:a="http://schemas.openxmlformats.org/drawingml/2006/main">
              <a:ext uri="{FF2B5EF4-FFF2-40B4-BE49-F238E27FC236}">
                <a16:creationId xmlns:a16="http://schemas.microsoft.com/office/drawing/2014/main" id="{AAD2EBC3-2F44-4B87-9E16-3EC3A1DEC726}"/>
              </a:ext>
            </a:extLst>
          </p:cNvPr>
          <p:cNvSpPr>
            <a:spLocks xmlns:a="http://schemas.openxmlformats.org/drawingml/2006/main" noGrp="1"/>
          </p:cNvSpPr>
          <p:nvPr/>
        </p:nvSpPr>
        <p:spPr>
          <a:xfrm xmlns:a="http://schemas.openxmlformats.org/drawingml/2006/main">
            <a:off x="8362950" y="21812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FOR BUYERS</a:t>
            </a:r>
          </a:p>
        </p:txBody>
      </p:sp>
      <p:sp>
        <p:nvSpPr>
          <p:cNvPr id="5" name="Make surplus&#10;easier to sell">
            <a:extLst xmlns:a="http://schemas.openxmlformats.org/drawingml/2006/main">
              <a:ext uri="{FF2B5EF4-FFF2-40B4-BE49-F238E27FC236}">
                <a16:creationId xmlns:a16="http://schemas.microsoft.com/office/drawing/2014/main" id="{CCD30C12-5C86-4341-91A7-79A89A5154BE}"/>
              </a:ext>
            </a:extLst>
          </p:cNvPr>
          <p:cNvSpPr>
            <a:spLocks xmlns:a="http://schemas.openxmlformats.org/drawingml/2006/main" noGrp="1"/>
          </p:cNvSpPr>
          <p:nvPr/>
        </p:nvSpPr>
        <p:spPr>
          <a:xfrm xmlns:a="http://schemas.openxmlformats.org/drawingml/2006/main">
            <a:off x="742950" y="30384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Make surplus</a:t>
            </a:r>
          </a:p>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easier to sell</a:t>
            </a:r>
          </a:p>
        </p:txBody>
      </p:sp>
      <p:sp>
        <p:nvSpPr>
          <p:cNvPr id="6" name="Turn photos into clearer listings.&#10;Reach buyers with a ">
            <a:extLst xmlns:a="http://schemas.openxmlformats.org/drawingml/2006/main">
              <a:ext uri="{FF2B5EF4-FFF2-40B4-BE49-F238E27FC236}">
                <a16:creationId xmlns:a16="http://schemas.microsoft.com/office/drawing/2014/main" id="{4BDB49D7-265D-492E-B580-B01AFEDE5EFC}"/>
              </a:ext>
            </a:extLst>
          </p:cNvPr>
          <p:cNvSpPr>
            <a:spLocks xmlns:a="http://schemas.openxmlformats.org/drawingml/2006/main" noGrp="1"/>
          </p:cNvSpPr>
          <p:nvPr/>
        </p:nvSpPr>
        <p:spPr>
          <a:xfrm xmlns:a="http://schemas.openxmlformats.org/drawingml/2006/main">
            <a:off x="742950" y="527685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Turn photos into clearer listings.</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Reach buyers with a matching need.</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Coordinate the exchange in one place.</a:t>
            </a:r>
          </a:p>
        </p:txBody>
      </p:sp>
      <p:sp>
        <p:nvSpPr>
          <p:cNvPr id="7" name="Make reuse&#10;easier to assess">
            <a:extLst xmlns:a="http://schemas.openxmlformats.org/drawingml/2006/main">
              <a:ext uri="{FF2B5EF4-FFF2-40B4-BE49-F238E27FC236}">
                <a16:creationId xmlns:a16="http://schemas.microsoft.com/office/drawing/2014/main" id="{AB807A93-4E34-4D3D-87D8-335A0536B991}"/>
              </a:ext>
            </a:extLst>
          </p:cNvPr>
          <p:cNvSpPr>
            <a:spLocks xmlns:a="http://schemas.openxmlformats.org/drawingml/2006/main" noGrp="1"/>
          </p:cNvSpPr>
          <p:nvPr/>
        </p:nvSpPr>
        <p:spPr>
          <a:xfrm xmlns:a="http://schemas.openxmlformats.org/drawingml/2006/main">
            <a:off x="8362950" y="3038475"/>
            <a:ext cx="6048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Make reuse</a:t>
            </a:r>
          </a:p>
          <a:p xmlns:a="http://schemas.openxmlformats.org/drawingml/2006/main">
            <a:pPr>
              <a:defRPr sz="4800" b="1">
                <a:solidFill>
                  <a:srgbClr val="10251B"/>
                </a:solidFill>
                <a:latin typeface="Arial"/>
                <a:ea typeface="Arial"/>
                <a:cs typeface="Arial"/>
              </a:defRPr>
            </a:pPr>
            <a:r>
              <a:rPr sz="4800" b="1">
                <a:solidFill>
                  <a:srgbClr val="10251B"/>
                </a:solidFill>
                <a:latin typeface="Arial"/>
                <a:ea typeface="Arial"/>
                <a:cs typeface="Arial"/>
              </a:rPr>
              <a:t>easier to assess</a:t>
            </a:r>
          </a:p>
        </p:txBody>
      </p:sp>
      <p:sp>
        <p:nvSpPr>
          <p:cNvPr id="8" name="Search by intended use.&#10;Check lot details before contac">
            <a:extLst xmlns:a="http://schemas.openxmlformats.org/drawingml/2006/main">
              <a:ext uri="{FF2B5EF4-FFF2-40B4-BE49-F238E27FC236}">
                <a16:creationId xmlns:a16="http://schemas.microsoft.com/office/drawing/2014/main" id="{2F260A2A-C2C8-4150-B2D7-D90D28D38621}"/>
              </a:ext>
            </a:extLst>
          </p:cNvPr>
          <p:cNvSpPr>
            <a:spLocks xmlns:a="http://schemas.openxmlformats.org/drawingml/2006/main" noGrp="1"/>
          </p:cNvSpPr>
          <p:nvPr/>
        </p:nvSpPr>
        <p:spPr>
          <a:xfrm xmlns:a="http://schemas.openxmlformats.org/drawingml/2006/main">
            <a:off x="8362950" y="5276850"/>
            <a:ext cx="5981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Search by intended use.</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Check lot details before contact.</a:t>
            </a:r>
          </a:p>
          <a:p xmlns:a="http://schemas.openxmlformats.org/drawingml/2006/main">
            <a:pPr>
              <a:defRPr sz="2625" b="0">
                <a:solidFill>
                  <a:srgbClr val="587062"/>
                </a:solidFill>
                <a:latin typeface="Arial"/>
                <a:ea typeface="Arial"/>
                <a:cs typeface="Arial"/>
              </a:defRPr>
            </a:pPr>
            <a:r>
              <a:rPr sz="2625" b="0">
                <a:solidFill>
                  <a:srgbClr val="587062"/>
                </a:solidFill>
                <a:latin typeface="Arial"/>
                <a:ea typeface="Arial"/>
                <a:cs typeface="Arial"/>
              </a:rPr>
              <a:t>Keep a shared handover record.</a:t>
            </a:r>
          </a:p>
        </p:txBody>
      </p:sp>
      <p:sp>
        <p:nvSpPr>
          <p:cNvPr id="9" name="Value propositions to validate in the first pilot.">
            <a:extLst xmlns:a="http://schemas.openxmlformats.org/drawingml/2006/main">
              <a:ext uri="{FF2B5EF4-FFF2-40B4-BE49-F238E27FC236}">
                <a16:creationId xmlns:a16="http://schemas.microsoft.com/office/drawing/2014/main" id="{F1434F94-6DB6-4801-8F8D-2F20DD7FFEE4}"/>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Value propositions to validate in the first pilot.</a:t>
            </a:r>
          </a:p>
        </p:txBody>
      </p:sp>
    </p:spTree>
    <p:extLst>
      <p:ext uri="{BB962C8B-B14F-4D97-AF65-F5344CB8AC3E}">
        <p14:creationId xmlns:p14="http://schemas.microsoft.com/office/powerpoint/2010/main" val="1328427155"/>
      </p:ext>
    </p:extLst>
  </p:cSld>
</p:sld>
</file>

<file path=ppt/slides/slide11.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14" name="Local density before geographic expansion">
            <a:extLst xmlns:a="http://schemas.openxmlformats.org/drawingml/2006/main">
              <a:ext uri="{FF2B5EF4-FFF2-40B4-BE49-F238E27FC236}">
                <a16:creationId xmlns:a16="http://schemas.microsoft.com/office/drawing/2014/main" id="{DE4A5A57-4996-4D27-B1BF-2098DB405B4E}"/>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Local density before geographic expansion</a:t>
            </a:r>
          </a:p>
        </p:txBody>
      </p:sp>
      <p:sp>
        <p:nvSpPr>
          <p:cNvPr id="2" name="11">
            <a:extLst xmlns:a="http://schemas.openxmlformats.org/drawingml/2006/main">
              <a:ext uri="{FF2B5EF4-FFF2-40B4-BE49-F238E27FC236}">
                <a16:creationId xmlns:a16="http://schemas.microsoft.com/office/drawing/2014/main" id="{43ECDB10-2181-4D53-96BA-51ABBF7A383C}"/>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11</a:t>
            </a:r>
          </a:p>
        </p:txBody>
      </p:sp>
      <p:sp>
        <p:nvSpPr>
          <p:cNvPr id="3" name="ONE LOCAL NETWORK">
            <a:extLst xmlns:a="http://schemas.openxmlformats.org/drawingml/2006/main">
              <a:ext uri="{FF2B5EF4-FFF2-40B4-BE49-F238E27FC236}">
                <a16:creationId xmlns:a16="http://schemas.microsoft.com/office/drawing/2014/main" id="{AB25C185-1A35-4ED5-95E1-6AAC1F4EA03F}"/>
              </a:ext>
            </a:extLst>
          </p:cNvPr>
          <p:cNvSpPr>
            <a:spLocks xmlns:a="http://schemas.openxmlformats.org/drawingml/2006/main" noGrp="1"/>
          </p:cNvSpPr>
          <p:nvPr/>
        </p:nvSpPr>
        <p:spPr>
          <a:xfrm xmlns:a="http://schemas.openxmlformats.org/drawingml/2006/main">
            <a:off x="742950" y="2228850"/>
            <a:ext cx="13049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B9FF66"/>
                </a:solidFill>
                <a:latin typeface="Arial"/>
                <a:ea typeface="Arial"/>
                <a:cs typeface="Arial"/>
              </a:defRPr>
            </a:pPr>
            <a:r>
              <a:rPr sz="2925" b="1">
                <a:solidFill>
                  <a:srgbClr val="B9FF66"/>
                </a:solidFill>
                <a:latin typeface="Arial"/>
                <a:ea typeface="Arial"/>
                <a:cs typeface="Arial"/>
              </a:rPr>
              <a:t>ONE LOCAL NETWORK</a:t>
            </a:r>
          </a:p>
        </p:txBody>
      </p:sp>
      <p:sp>
        <p:nvSpPr>
          <p:cNvPr id="4" name="Workshops, small businesses&#10;and institutional surplus o">
            <a:extLst xmlns:a="http://schemas.openxmlformats.org/drawingml/2006/main">
              <a:ext uri="{FF2B5EF4-FFF2-40B4-BE49-F238E27FC236}">
                <a16:creationId xmlns:a16="http://schemas.microsoft.com/office/drawing/2014/main" id="{2F3DE036-E788-4C9A-89E6-6D48240315B0}"/>
              </a:ext>
            </a:extLst>
          </p:cNvPr>
          <p:cNvSpPr>
            <a:spLocks xmlns:a="http://schemas.openxmlformats.org/drawingml/2006/main" noGrp="1"/>
          </p:cNvSpPr>
          <p:nvPr/>
        </p:nvSpPr>
        <p:spPr>
          <a:xfrm xmlns:a="http://schemas.openxmlformats.org/drawingml/2006/main">
            <a:off x="742950" y="3238500"/>
            <a:ext cx="1333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75" b="1">
                <a:solidFill>
                  <a:srgbClr val="F6F7EE"/>
                </a:solidFill>
                <a:latin typeface="Arial"/>
                <a:ea typeface="Arial"/>
                <a:cs typeface="Arial"/>
              </a:defRPr>
            </a:pPr>
            <a:r>
              <a:rPr sz="4875" b="1">
                <a:solidFill>
                  <a:srgbClr val="F6F7EE"/>
                </a:solidFill>
                <a:latin typeface="Arial"/>
                <a:ea typeface="Arial"/>
                <a:cs typeface="Arial"/>
              </a:rPr>
              <a:t>Workshops, small businesses</a:t>
            </a:r>
          </a:p>
          <a:p xmlns:a="http://schemas.openxmlformats.org/drawingml/2006/main">
            <a:pPr>
              <a:defRPr sz="4875" b="1">
                <a:solidFill>
                  <a:srgbClr val="F6F7EE"/>
                </a:solidFill>
                <a:latin typeface="Arial"/>
                <a:ea typeface="Arial"/>
                <a:cs typeface="Arial"/>
              </a:defRPr>
            </a:pPr>
            <a:r>
              <a:rPr sz="4875" b="1">
                <a:solidFill>
                  <a:srgbClr val="F6F7EE"/>
                </a:solidFill>
                <a:latin typeface="Arial"/>
                <a:ea typeface="Arial"/>
                <a:cs typeface="Arial"/>
              </a:rPr>
              <a:t>and institutional surplus owners</a:t>
            </a:r>
          </a:p>
        </p:txBody>
      </p:sp>
      <p:sp>
        <p:nvSpPr>
          <p:cNvPr id="5" name="01">
            <a:extLst xmlns:a="http://schemas.openxmlformats.org/drawingml/2006/main">
              <a:ext uri="{FF2B5EF4-FFF2-40B4-BE49-F238E27FC236}">
                <a16:creationId xmlns:a16="http://schemas.microsoft.com/office/drawing/2014/main" id="{314532FC-E27E-48AE-9C89-0F2AC7118C50}"/>
              </a:ext>
            </a:extLst>
          </p:cNvPr>
          <p:cNvSpPr>
            <a:spLocks xmlns:a="http://schemas.openxmlformats.org/drawingml/2006/main" noGrp="1"/>
          </p:cNvSpPr>
          <p:nvPr/>
        </p:nvSpPr>
        <p:spPr>
          <a:xfrm xmlns:a="http://schemas.openxmlformats.org/drawingml/2006/main">
            <a:off x="742950"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01</a:t>
            </a:r>
          </a:p>
        </p:txBody>
      </p:sp>
      <p:sp>
        <p:nvSpPr>
          <p:cNvPr id="6" name="Seed useful supply">
            <a:extLst xmlns:a="http://schemas.openxmlformats.org/drawingml/2006/main">
              <a:ext uri="{FF2B5EF4-FFF2-40B4-BE49-F238E27FC236}">
                <a16:creationId xmlns:a16="http://schemas.microsoft.com/office/drawing/2014/main" id="{2A2F1F5C-59C5-4DD4-A67F-0AE8C6C3FDC7}"/>
              </a:ext>
            </a:extLst>
          </p:cNvPr>
          <p:cNvSpPr>
            <a:spLocks xmlns:a="http://schemas.openxmlformats.org/drawingml/2006/main" noGrp="1"/>
          </p:cNvSpPr>
          <p:nvPr/>
        </p:nvSpPr>
        <p:spPr>
          <a:xfrm xmlns:a="http://schemas.openxmlformats.org/drawingml/2006/main">
            <a:off x="742950"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Seed useful supply</a:t>
            </a:r>
          </a:p>
        </p:txBody>
      </p:sp>
      <p:sp>
        <p:nvSpPr>
          <p:cNvPr id="7" name="Onboard relevant lots with clear&#10;photos and specificati">
            <a:extLst xmlns:a="http://schemas.openxmlformats.org/drawingml/2006/main">
              <a:ext uri="{FF2B5EF4-FFF2-40B4-BE49-F238E27FC236}">
                <a16:creationId xmlns:a16="http://schemas.microsoft.com/office/drawing/2014/main" id="{52DC9AF4-3014-4B7D-8628-874F4E512FEC}"/>
              </a:ext>
            </a:extLst>
          </p:cNvPr>
          <p:cNvSpPr>
            <a:spLocks xmlns:a="http://schemas.openxmlformats.org/drawingml/2006/main" noGrp="1"/>
          </p:cNvSpPr>
          <p:nvPr/>
        </p:nvSpPr>
        <p:spPr>
          <a:xfrm xmlns:a="http://schemas.openxmlformats.org/drawingml/2006/main">
            <a:off x="742950"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Onboard relevant lots with clear</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photos and specifications.</a:t>
            </a:r>
          </a:p>
        </p:txBody>
      </p:sp>
      <p:sp>
        <p:nvSpPr>
          <p:cNvPr id="8" name="02">
            <a:extLst xmlns:a="http://schemas.openxmlformats.org/drawingml/2006/main">
              <a:ext uri="{FF2B5EF4-FFF2-40B4-BE49-F238E27FC236}">
                <a16:creationId xmlns:a16="http://schemas.microsoft.com/office/drawing/2014/main" id="{D5319546-3F34-4C53-9E27-A875E15B8A95}"/>
              </a:ext>
            </a:extLst>
          </p:cNvPr>
          <p:cNvSpPr>
            <a:spLocks xmlns:a="http://schemas.openxmlformats.org/drawingml/2006/main" noGrp="1"/>
          </p:cNvSpPr>
          <p:nvPr/>
        </p:nvSpPr>
        <p:spPr>
          <a:xfrm xmlns:a="http://schemas.openxmlformats.org/drawingml/2006/main">
            <a:off x="5553075"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02</a:t>
            </a:r>
          </a:p>
        </p:txBody>
      </p:sp>
      <p:sp>
        <p:nvSpPr>
          <p:cNvPr id="9" name="Recruit matching demand">
            <a:extLst xmlns:a="http://schemas.openxmlformats.org/drawingml/2006/main">
              <a:ext uri="{FF2B5EF4-FFF2-40B4-BE49-F238E27FC236}">
                <a16:creationId xmlns:a16="http://schemas.microsoft.com/office/drawing/2014/main" id="{C91D6F1A-B957-4B19-A461-AD9FE2FBFEDE}"/>
              </a:ext>
            </a:extLst>
          </p:cNvPr>
          <p:cNvSpPr>
            <a:spLocks xmlns:a="http://schemas.openxmlformats.org/drawingml/2006/main" noGrp="1"/>
          </p:cNvSpPr>
          <p:nvPr/>
        </p:nvSpPr>
        <p:spPr>
          <a:xfrm xmlns:a="http://schemas.openxmlformats.org/drawingml/2006/main">
            <a:off x="5553075"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Recruit matching demand</a:t>
            </a:r>
          </a:p>
        </p:txBody>
      </p:sp>
      <p:sp>
        <p:nvSpPr>
          <p:cNvPr id="10" name="Reach nearby buyers through&#10;local business networks.">
            <a:extLst xmlns:a="http://schemas.openxmlformats.org/drawingml/2006/main">
              <a:ext uri="{FF2B5EF4-FFF2-40B4-BE49-F238E27FC236}">
                <a16:creationId xmlns:a16="http://schemas.microsoft.com/office/drawing/2014/main" id="{3B4A09E4-1653-4C46-8433-1FBF59167409}"/>
              </a:ext>
            </a:extLst>
          </p:cNvPr>
          <p:cNvSpPr>
            <a:spLocks xmlns:a="http://schemas.openxmlformats.org/drawingml/2006/main" noGrp="1"/>
          </p:cNvSpPr>
          <p:nvPr/>
        </p:nvSpPr>
        <p:spPr>
          <a:xfrm xmlns:a="http://schemas.openxmlformats.org/drawingml/2006/main">
            <a:off x="5553075"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Reach nearby buyers through</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local business networks.</a:t>
            </a:r>
          </a:p>
        </p:txBody>
      </p:sp>
      <p:sp>
        <p:nvSpPr>
          <p:cNvPr id="11" name="03">
            <a:extLst xmlns:a="http://schemas.openxmlformats.org/drawingml/2006/main">
              <a:ext uri="{FF2B5EF4-FFF2-40B4-BE49-F238E27FC236}">
                <a16:creationId xmlns:a16="http://schemas.microsoft.com/office/drawing/2014/main" id="{92AE9584-020B-4397-A52A-A6FB595A48BC}"/>
              </a:ext>
            </a:extLst>
          </p:cNvPr>
          <p:cNvSpPr>
            <a:spLocks xmlns:a="http://schemas.openxmlformats.org/drawingml/2006/main" noGrp="1"/>
          </p:cNvSpPr>
          <p:nvPr/>
        </p:nvSpPr>
        <p:spPr>
          <a:xfrm xmlns:a="http://schemas.openxmlformats.org/drawingml/2006/main">
            <a:off x="10363200" y="5286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B9FF66"/>
                </a:solidFill>
                <a:latin typeface="Arial"/>
                <a:ea typeface="Arial"/>
                <a:cs typeface="Arial"/>
              </a:defRPr>
            </a:pPr>
            <a:r>
              <a:rPr sz="4350" b="1">
                <a:solidFill>
                  <a:srgbClr val="B9FF66"/>
                </a:solidFill>
                <a:latin typeface="Arial"/>
                <a:ea typeface="Arial"/>
                <a:cs typeface="Arial"/>
              </a:rPr>
              <a:t>03</a:t>
            </a:r>
          </a:p>
        </p:txBody>
      </p:sp>
      <p:sp>
        <p:nvSpPr>
          <p:cNvPr id="12" name="Learn from each exchange">
            <a:extLst xmlns:a="http://schemas.openxmlformats.org/drawingml/2006/main">
              <a:ext uri="{FF2B5EF4-FFF2-40B4-BE49-F238E27FC236}">
                <a16:creationId xmlns:a16="http://schemas.microsoft.com/office/drawing/2014/main" id="{EEF4442D-6665-4326-A146-CDBE51490E59}"/>
              </a:ext>
            </a:extLst>
          </p:cNvPr>
          <p:cNvSpPr>
            <a:spLocks xmlns:a="http://schemas.openxmlformats.org/drawingml/2006/main" noGrp="1"/>
          </p:cNvSpPr>
          <p:nvPr/>
        </p:nvSpPr>
        <p:spPr>
          <a:xfrm xmlns:a="http://schemas.openxmlformats.org/drawingml/2006/main">
            <a:off x="10363200" y="6191250"/>
            <a:ext cx="433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F6F7EE"/>
                </a:solidFill>
                <a:latin typeface="Arial"/>
                <a:ea typeface="Arial"/>
                <a:cs typeface="Arial"/>
              </a:defRPr>
            </a:pPr>
            <a:r>
              <a:rPr sz="2325" b="1">
                <a:solidFill>
                  <a:srgbClr val="F6F7EE"/>
                </a:solidFill>
                <a:latin typeface="Arial"/>
                <a:ea typeface="Arial"/>
                <a:cs typeface="Arial"/>
              </a:rPr>
              <a:t>Learn from each exchange</a:t>
            </a:r>
          </a:p>
        </p:txBody>
      </p:sp>
      <p:sp>
        <p:nvSpPr>
          <p:cNvPr id="13" name="Watch where assessment or&#10;handover still breaks down.">
            <a:extLst xmlns:a="http://schemas.openxmlformats.org/drawingml/2006/main">
              <a:ext uri="{FF2B5EF4-FFF2-40B4-BE49-F238E27FC236}">
                <a16:creationId xmlns:a16="http://schemas.microsoft.com/office/drawing/2014/main" id="{2852B8DF-8030-4524-BB4A-5130ED33D2F8}"/>
              </a:ext>
            </a:extLst>
          </p:cNvPr>
          <p:cNvSpPr>
            <a:spLocks xmlns:a="http://schemas.openxmlformats.org/drawingml/2006/main" noGrp="1"/>
          </p:cNvSpPr>
          <p:nvPr/>
        </p:nvSpPr>
        <p:spPr>
          <a:xfrm xmlns:a="http://schemas.openxmlformats.org/drawingml/2006/main">
            <a:off x="10363200" y="6772275"/>
            <a:ext cx="4295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Watch where assessment or</a:t>
            </a:r>
          </a:p>
          <a:p xmlns:a="http://schemas.openxmlformats.org/drawingml/2006/main">
            <a:pPr>
              <a:defRPr sz="2025" b="0">
                <a:solidFill>
                  <a:srgbClr val="BCD0C0"/>
                </a:solidFill>
                <a:latin typeface="Arial"/>
                <a:ea typeface="Arial"/>
                <a:cs typeface="Arial"/>
              </a:defRPr>
            </a:pPr>
            <a:r>
              <a:rPr sz="2025" b="0">
                <a:solidFill>
                  <a:srgbClr val="BCD0C0"/>
                </a:solidFill>
                <a:latin typeface="Arial"/>
                <a:ea typeface="Arial"/>
                <a:cs typeface="Arial"/>
              </a:rPr>
              <a:t>handover still breaks down.</a:t>
            </a:r>
          </a:p>
        </p:txBody>
      </p:sp>
    </p:spTree>
    <p:extLst>
      <p:ext uri="{BB962C8B-B14F-4D97-AF65-F5344CB8AC3E}">
        <p14:creationId xmlns:p14="http://schemas.microsoft.com/office/powerpoint/2010/main" val="1209903374"/>
      </p:ext>
    </p:extLst>
  </p:cSld>
</p:sld>
</file>

<file path=ppt/slides/slide12.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9" name="A business model for repeat trade">
            <a:extLst xmlns:a="http://schemas.openxmlformats.org/drawingml/2006/main">
              <a:ext uri="{FF2B5EF4-FFF2-40B4-BE49-F238E27FC236}">
                <a16:creationId xmlns:a16="http://schemas.microsoft.com/office/drawing/2014/main" id="{E93F8BBD-2143-41FB-B951-FBA6E2C86A0D}"/>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A business model for repeat trade</a:t>
            </a:r>
          </a:p>
        </p:txBody>
      </p:sp>
      <p:sp>
        <p:nvSpPr>
          <p:cNvPr id="2" name="12">
            <a:extLst xmlns:a="http://schemas.openxmlformats.org/drawingml/2006/main">
              <a:ext uri="{FF2B5EF4-FFF2-40B4-BE49-F238E27FC236}">
                <a16:creationId xmlns:a16="http://schemas.microsoft.com/office/drawing/2014/main" id="{BCB59278-4810-4DC0-A232-82C3D156420E}"/>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12</a:t>
            </a:r>
          </a:p>
        </p:txBody>
      </p:sp>
      <p:sp>
        <p:nvSpPr>
          <p:cNvPr id="3" name="PROPOSED REVENUE STREAMS">
            <a:extLst xmlns:a="http://schemas.openxmlformats.org/drawingml/2006/main">
              <a:ext uri="{FF2B5EF4-FFF2-40B4-BE49-F238E27FC236}">
                <a16:creationId xmlns:a16="http://schemas.microsoft.com/office/drawing/2014/main" id="{D860B963-9DDE-48D3-9FCD-5A51B5A08EB0}"/>
              </a:ext>
            </a:extLst>
          </p:cNvPr>
          <p:cNvSpPr>
            <a:spLocks xmlns:a="http://schemas.openxmlformats.org/drawingml/2006/main" noGrp="1"/>
          </p:cNvSpPr>
          <p:nvPr/>
        </p:nvSpPr>
        <p:spPr>
          <a:xfrm xmlns:a="http://schemas.openxmlformats.org/drawingml/2006/main">
            <a:off x="742950" y="213360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PROPOSED REVENUE STREAMS</a:t>
            </a:r>
          </a:p>
        </p:txBody>
      </p:sp>
      <p:sp>
        <p:nvSpPr>
          <p:cNvPr id="4" name="Transaction fee">
            <a:extLst xmlns:a="http://schemas.openxmlformats.org/drawingml/2006/main">
              <a:ext uri="{FF2B5EF4-FFF2-40B4-BE49-F238E27FC236}">
                <a16:creationId xmlns:a16="http://schemas.microsoft.com/office/drawing/2014/main" id="{15FAD1A0-E48F-4E4A-9B8B-0C4424F8A426}"/>
              </a:ext>
            </a:extLst>
          </p:cNvPr>
          <p:cNvSpPr>
            <a:spLocks xmlns:a="http://schemas.openxmlformats.org/drawingml/2006/main" noGrp="1"/>
          </p:cNvSpPr>
          <p:nvPr/>
        </p:nvSpPr>
        <p:spPr>
          <a:xfrm xmlns:a="http://schemas.openxmlformats.org/drawingml/2006/main">
            <a:off x="742950" y="3314700"/>
            <a:ext cx="6334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725" b="1">
                <a:solidFill>
                  <a:srgbClr val="10251B"/>
                </a:solidFill>
                <a:latin typeface="Arial"/>
                <a:ea typeface="Arial"/>
                <a:cs typeface="Arial"/>
              </a:defRPr>
            </a:pPr>
            <a:r>
              <a:rPr sz="4725" b="1">
                <a:solidFill>
                  <a:srgbClr val="10251B"/>
                </a:solidFill>
                <a:latin typeface="Arial"/>
                <a:ea typeface="Arial"/>
                <a:cs typeface="Arial"/>
              </a:rPr>
              <a:t>Transaction fee</a:t>
            </a:r>
          </a:p>
        </p:txBody>
      </p:sp>
      <p:sp>
        <p:nvSpPr>
          <p:cNvPr id="5" name="Charge when the platform delivers&#10;a completed exchange ">
            <a:extLst xmlns:a="http://schemas.openxmlformats.org/drawingml/2006/main">
              <a:ext uri="{FF2B5EF4-FFF2-40B4-BE49-F238E27FC236}">
                <a16:creationId xmlns:a16="http://schemas.microsoft.com/office/drawing/2014/main" id="{F413580A-C0C0-466A-8E78-FA0123BCE5E8}"/>
              </a:ext>
            </a:extLst>
          </p:cNvPr>
          <p:cNvSpPr>
            <a:spLocks xmlns:a="http://schemas.openxmlformats.org/drawingml/2006/main" noGrp="1"/>
          </p:cNvSpPr>
          <p:nvPr/>
        </p:nvSpPr>
        <p:spPr>
          <a:xfrm xmlns:a="http://schemas.openxmlformats.org/drawingml/2006/main">
            <a:off x="742950" y="4762500"/>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Charge when the platform delivers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a completed exchange with useful</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coordination and records.</a:t>
            </a:r>
          </a:p>
        </p:txBody>
      </p:sp>
      <p:sp>
        <p:nvSpPr>
          <p:cNvPr id="6" name="Business tools">
            <a:extLst xmlns:a="http://schemas.openxmlformats.org/drawingml/2006/main">
              <a:ext uri="{FF2B5EF4-FFF2-40B4-BE49-F238E27FC236}">
                <a16:creationId xmlns:a16="http://schemas.microsoft.com/office/drawing/2014/main" id="{88C6E999-4869-4890-913B-4CFCFFCD765F}"/>
              </a:ext>
            </a:extLst>
          </p:cNvPr>
          <p:cNvSpPr>
            <a:spLocks xmlns:a="http://schemas.openxmlformats.org/drawingml/2006/main" noGrp="1"/>
          </p:cNvSpPr>
          <p:nvPr/>
        </p:nvSpPr>
        <p:spPr>
          <a:xfrm xmlns:a="http://schemas.openxmlformats.org/drawingml/2006/main">
            <a:off x="8324850" y="3314700"/>
            <a:ext cx="6019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725" b="1">
                <a:solidFill>
                  <a:srgbClr val="10251B"/>
                </a:solidFill>
                <a:latin typeface="Arial"/>
                <a:ea typeface="Arial"/>
                <a:cs typeface="Arial"/>
              </a:defRPr>
            </a:pPr>
            <a:r>
              <a:rPr sz="4725" b="1">
                <a:solidFill>
                  <a:srgbClr val="10251B"/>
                </a:solidFill>
                <a:latin typeface="Arial"/>
                <a:ea typeface="Arial"/>
                <a:cs typeface="Arial"/>
              </a:rPr>
              <a:t>Business tools</a:t>
            </a:r>
          </a:p>
        </p:txBody>
      </p:sp>
      <p:sp>
        <p:nvSpPr>
          <p:cNvPr id="7" name="Offer paid tools for repeat sellers:&#10;bulk inventory, te">
            <a:extLst xmlns:a="http://schemas.openxmlformats.org/drawingml/2006/main">
              <a:ext uri="{FF2B5EF4-FFF2-40B4-BE49-F238E27FC236}">
                <a16:creationId xmlns:a16="http://schemas.microsoft.com/office/drawing/2014/main" id="{5C54A756-0E2A-40A8-85E3-5B1B146DCA76}"/>
              </a:ext>
            </a:extLst>
          </p:cNvPr>
          <p:cNvSpPr>
            <a:spLocks xmlns:a="http://schemas.openxmlformats.org/drawingml/2006/main" noGrp="1"/>
          </p:cNvSpPr>
          <p:nvPr/>
        </p:nvSpPr>
        <p:spPr>
          <a:xfrm xmlns:a="http://schemas.openxmlformats.org/drawingml/2006/main">
            <a:off x="8324850" y="4762500"/>
            <a:ext cx="6019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Offer paid tools for repeat sellers: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bulk inventory, team workflows</a:t>
            </a:r>
          </a:p>
          <a:p xmlns:a="http://schemas.openxmlformats.org/drawingml/2006/main">
            <a:pPr>
              <a:defRPr sz="2700" b="0">
                <a:solidFill>
                  <a:srgbClr val="587062"/>
                </a:solidFill>
                <a:latin typeface="Arial"/>
                <a:ea typeface="Arial"/>
                <a:cs typeface="Arial"/>
              </a:defRPr>
            </a:pPr>
            <a:r>
              <a:rPr sz="2700" b="0">
                <a:solidFill>
                  <a:srgbClr val="587062"/>
                </a:solidFill>
                <a:latin typeface="Arial"/>
                <a:ea typeface="Arial"/>
                <a:cs typeface="Arial"/>
              </a:rPr>
              <a:t>and reporting.</a:t>
            </a:r>
          </a:p>
        </p:txBody>
      </p:sp>
      <p:sp>
        <p:nvSpPr>
          <p:cNvPr id="8" name="Pricing and willingness to pay require pilot validation">
            <a:extLst xmlns:a="http://schemas.openxmlformats.org/drawingml/2006/main">
              <a:ext uri="{FF2B5EF4-FFF2-40B4-BE49-F238E27FC236}">
                <a16:creationId xmlns:a16="http://schemas.microsoft.com/office/drawing/2014/main" id="{02B07EDA-DDA6-4C2F-9F1D-C73D4528DE9C}"/>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Pricing and willingness to pay require pilot validation. Validate willingness to pay before setting fees.</a:t>
            </a:r>
          </a:p>
        </p:txBody>
      </p:sp>
    </p:spTree>
    <p:extLst>
      <p:ext uri="{BB962C8B-B14F-4D97-AF65-F5344CB8AC3E}">
        <p14:creationId xmlns:p14="http://schemas.microsoft.com/office/powerpoint/2010/main" val="140298270"/>
      </p:ext>
    </p:extLst>
  </p:cSld>
</p:sld>
</file>

<file path=ppt/slides/slide13.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10" name="The next milestone is a focused pilot">
            <a:extLst xmlns:a="http://schemas.openxmlformats.org/drawingml/2006/main">
              <a:ext uri="{FF2B5EF4-FFF2-40B4-BE49-F238E27FC236}">
                <a16:creationId xmlns:a16="http://schemas.microsoft.com/office/drawing/2014/main" id="{224C1C70-B0BA-4638-B664-8C9998998E9F}"/>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The next milestone is a focused pilot</a:t>
            </a:r>
          </a:p>
        </p:txBody>
      </p:sp>
      <p:sp>
        <p:nvSpPr>
          <p:cNvPr id="2" name="13">
            <a:extLst xmlns:a="http://schemas.openxmlformats.org/drawingml/2006/main">
              <a:ext uri="{FF2B5EF4-FFF2-40B4-BE49-F238E27FC236}">
                <a16:creationId xmlns:a16="http://schemas.microsoft.com/office/drawing/2014/main" id="{2CFCE8DD-A82F-4A06-BC15-1074E0A9EDF9}"/>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13</a:t>
            </a:r>
          </a:p>
        </p:txBody>
      </p:sp>
      <p:sp>
        <p:nvSpPr>
          <p:cNvPr id="3" name="90 days">
            <a:extLst xmlns:a="http://schemas.openxmlformats.org/drawingml/2006/main">
              <a:ext uri="{FF2B5EF4-FFF2-40B4-BE49-F238E27FC236}">
                <a16:creationId xmlns:a16="http://schemas.microsoft.com/office/drawing/2014/main" id="{018E3C9B-4BAE-4206-A7F2-B534B896B1C4}"/>
              </a:ext>
            </a:extLst>
          </p:cNvPr>
          <p:cNvSpPr>
            <a:spLocks xmlns:a="http://schemas.openxmlformats.org/drawingml/2006/main" noGrp="1"/>
          </p:cNvSpPr>
          <p:nvPr/>
        </p:nvSpPr>
        <p:spPr>
          <a:xfrm xmlns:a="http://schemas.openxmlformats.org/drawingml/2006/main">
            <a:off x="742950" y="2238375"/>
            <a:ext cx="66675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0" b="1">
                <a:solidFill>
                  <a:srgbClr val="10251B"/>
                </a:solidFill>
                <a:latin typeface="Arial"/>
                <a:ea typeface="Arial"/>
                <a:cs typeface="Arial"/>
              </a:defRPr>
            </a:pPr>
            <a:r>
              <a:rPr sz="10500" b="1">
                <a:solidFill>
                  <a:srgbClr val="10251B"/>
                </a:solidFill>
                <a:latin typeface="Arial"/>
                <a:ea typeface="Arial"/>
                <a:cs typeface="Arial"/>
              </a:rPr>
              <a:t>90 days</a:t>
            </a:r>
          </a:p>
        </p:txBody>
      </p:sp>
      <p:sp>
        <p:nvSpPr>
          <p:cNvPr id="4" name="Proposed pilot horizon">
            <a:extLst xmlns:a="http://schemas.openxmlformats.org/drawingml/2006/main">
              <a:ext uri="{FF2B5EF4-FFF2-40B4-BE49-F238E27FC236}">
                <a16:creationId xmlns:a16="http://schemas.microsoft.com/office/drawing/2014/main" id="{5C669F4C-DC3A-4B72-A018-AA6E7DFD56FF}"/>
              </a:ext>
            </a:extLst>
          </p:cNvPr>
          <p:cNvSpPr>
            <a:spLocks xmlns:a="http://schemas.openxmlformats.org/drawingml/2006/main" noGrp="1"/>
          </p:cNvSpPr>
          <p:nvPr/>
        </p:nvSpPr>
        <p:spPr>
          <a:xfrm xmlns:a="http://schemas.openxmlformats.org/drawingml/2006/main">
            <a:off x="847725" y="4295775"/>
            <a:ext cx="624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587062"/>
                </a:solidFill>
                <a:latin typeface="Arial"/>
                <a:ea typeface="Arial"/>
                <a:cs typeface="Arial"/>
              </a:defRPr>
            </a:pPr>
            <a:r>
              <a:rPr sz="2400" b="0">
                <a:solidFill>
                  <a:srgbClr val="587062"/>
                </a:solidFill>
                <a:latin typeface="Arial"/>
                <a:ea typeface="Arial"/>
                <a:cs typeface="Arial"/>
              </a:rPr>
              <a:t>Proposed pilot horizon</a:t>
            </a:r>
          </a:p>
        </p:txBody>
      </p:sp>
      <p:sp>
        <p:nvSpPr>
          <p:cNvPr id="5" name="Validate real exchange behaviour">
            <a:extLst xmlns:a="http://schemas.openxmlformats.org/drawingml/2006/main">
              <a:ext uri="{FF2B5EF4-FFF2-40B4-BE49-F238E27FC236}">
                <a16:creationId xmlns:a16="http://schemas.microsoft.com/office/drawing/2014/main" id="{1AC533AF-7802-4DAF-BD4F-48B91923197F}"/>
              </a:ext>
            </a:extLst>
          </p:cNvPr>
          <p:cNvSpPr>
            <a:spLocks xmlns:a="http://schemas.openxmlformats.org/drawingml/2006/main" noGrp="1"/>
          </p:cNvSpPr>
          <p:nvPr/>
        </p:nvSpPr>
        <p:spPr>
          <a:xfrm xmlns:a="http://schemas.openxmlformats.org/drawingml/2006/main">
            <a:off x="7810500" y="2352675"/>
            <a:ext cx="657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1">
                <a:solidFill>
                  <a:srgbClr val="10251B"/>
                </a:solidFill>
                <a:latin typeface="Arial"/>
                <a:ea typeface="Arial"/>
                <a:cs typeface="Arial"/>
              </a:defRPr>
            </a:pPr>
            <a:r>
              <a:rPr sz="3450" b="1">
                <a:solidFill>
                  <a:srgbClr val="10251B"/>
                </a:solidFill>
                <a:latin typeface="Arial"/>
                <a:ea typeface="Arial"/>
                <a:cs typeface="Arial"/>
              </a:rPr>
              <a:t>Validate real exchange behaviour</a:t>
            </a:r>
          </a:p>
        </p:txBody>
      </p:sp>
      <p:sp>
        <p:nvSpPr>
          <p:cNvPr id="6" name="Time to a suitable match&#10;Completed handovers&#10;Repeat buy">
            <a:extLst xmlns:a="http://schemas.openxmlformats.org/drawingml/2006/main">
              <a:ext uri="{FF2B5EF4-FFF2-40B4-BE49-F238E27FC236}">
                <a16:creationId xmlns:a16="http://schemas.microsoft.com/office/drawing/2014/main" id="{4B001073-7DD5-4E59-B86C-48ADF07DEEBD}"/>
              </a:ext>
            </a:extLst>
          </p:cNvPr>
          <p:cNvSpPr>
            <a:spLocks xmlns:a="http://schemas.openxmlformats.org/drawingml/2006/main" noGrp="1"/>
          </p:cNvSpPr>
          <p:nvPr/>
        </p:nvSpPr>
        <p:spPr>
          <a:xfrm xmlns:a="http://schemas.openxmlformats.org/drawingml/2006/main">
            <a:off x="7810500" y="3990975"/>
            <a:ext cx="642937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Time to a suitable match</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Completed handovers</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Repeat buyers and sellers</a:t>
            </a:r>
          </a:p>
          <a:p xmlns:a="http://schemas.openxmlformats.org/drawingml/2006/main">
            <a:pPr>
              <a:defRPr sz="2775" b="0">
                <a:solidFill>
                  <a:srgbClr val="587062"/>
                </a:solidFill>
                <a:latin typeface="Arial"/>
                <a:ea typeface="Arial"/>
                <a:cs typeface="Arial"/>
              </a:defRPr>
            </a:pPr>
            <a:r>
              <a:rPr sz="2775" b="0">
                <a:solidFill>
                  <a:srgbClr val="587062"/>
                </a:solidFill>
                <a:latin typeface="Arial"/>
                <a:ea typeface="Arial"/>
                <a:cs typeface="Arial"/>
              </a:rPr>
              <a:t>Disputes and abandonment</a:t>
            </a:r>
          </a:p>
        </p:txBody>
      </p:sp>
      <p:sp>
        <p:nvSpPr>
          <p:cNvPr id="7" name="ASK">
            <a:extLst xmlns:a="http://schemas.openxmlformats.org/drawingml/2006/main">
              <a:ext uri="{FF2B5EF4-FFF2-40B4-BE49-F238E27FC236}">
                <a16:creationId xmlns:a16="http://schemas.microsoft.com/office/drawing/2014/main" id="{B4789F3D-1BC1-41D0-B241-2E1A54E015EC}"/>
              </a:ext>
            </a:extLst>
          </p:cNvPr>
          <p:cNvSpPr>
            <a:spLocks xmlns:a="http://schemas.openxmlformats.org/drawingml/2006/main" noGrp="1"/>
          </p:cNvSpPr>
          <p:nvPr/>
        </p:nvSpPr>
        <p:spPr>
          <a:xfrm xmlns:a="http://schemas.openxmlformats.org/drawingml/2006/main">
            <a:off x="781050" y="5905500"/>
            <a:ext cx="5143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587062"/>
                </a:solidFill>
                <a:latin typeface="Arial"/>
                <a:ea typeface="Arial"/>
                <a:cs typeface="Arial"/>
              </a:defRPr>
            </a:pPr>
            <a:r>
              <a:rPr sz="2175" b="1">
                <a:solidFill>
                  <a:srgbClr val="587062"/>
                </a:solidFill>
                <a:latin typeface="Arial"/>
                <a:ea typeface="Arial"/>
                <a:cs typeface="Arial"/>
              </a:rPr>
              <a:t>ASK</a:t>
            </a:r>
          </a:p>
        </p:txBody>
      </p:sp>
      <p:sp>
        <p:nvSpPr>
          <p:cNvPr id="8" name="Pilot partners and&#10;product feedback">
            <a:extLst xmlns:a="http://schemas.openxmlformats.org/drawingml/2006/main">
              <a:ext uri="{FF2B5EF4-FFF2-40B4-BE49-F238E27FC236}">
                <a16:creationId xmlns:a16="http://schemas.microsoft.com/office/drawing/2014/main" id="{2BD30631-79B3-4431-AB6E-D59B327DE258}"/>
              </a:ext>
            </a:extLst>
          </p:cNvPr>
          <p:cNvSpPr>
            <a:spLocks xmlns:a="http://schemas.openxmlformats.org/drawingml/2006/main" noGrp="1"/>
          </p:cNvSpPr>
          <p:nvPr/>
        </p:nvSpPr>
        <p:spPr>
          <a:xfrm xmlns:a="http://schemas.openxmlformats.org/drawingml/2006/main">
            <a:off x="781050" y="6477000"/>
            <a:ext cx="65436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1">
                <a:solidFill>
                  <a:srgbClr val="10251B"/>
                </a:solidFill>
                <a:latin typeface="Arial"/>
                <a:ea typeface="Arial"/>
                <a:cs typeface="Arial"/>
              </a:defRPr>
            </a:pPr>
            <a:r>
              <a:rPr sz="3525" b="1">
                <a:solidFill>
                  <a:srgbClr val="10251B"/>
                </a:solidFill>
                <a:latin typeface="Arial"/>
                <a:ea typeface="Arial"/>
                <a:cs typeface="Arial"/>
              </a:rPr>
              <a:t>Pilot partners and</a:t>
            </a:r>
          </a:p>
          <a:p xmlns:a="http://schemas.openxmlformats.org/drawingml/2006/main">
            <a:pPr>
              <a:defRPr sz="3525" b="1">
                <a:solidFill>
                  <a:srgbClr val="10251B"/>
                </a:solidFill>
                <a:latin typeface="Arial"/>
                <a:ea typeface="Arial"/>
                <a:cs typeface="Arial"/>
              </a:defRPr>
            </a:pPr>
            <a:r>
              <a:rPr sz="3525" b="1">
                <a:solidFill>
                  <a:srgbClr val="10251B"/>
                </a:solidFill>
                <a:latin typeface="Arial"/>
                <a:ea typeface="Arial"/>
                <a:cs typeface="Arial"/>
              </a:rPr>
              <a:t>product feedback</a:t>
            </a:r>
          </a:p>
        </p:txBody>
      </p:sp>
      <p:sp>
        <p:nvSpPr>
          <p:cNvPr id="9" name="Pilot plan: validate the workflow first, then set comme">
            <a:extLst xmlns:a="http://schemas.openxmlformats.org/drawingml/2006/main">
              <a:ext uri="{FF2B5EF4-FFF2-40B4-BE49-F238E27FC236}">
                <a16:creationId xmlns:a16="http://schemas.microsoft.com/office/drawing/2014/main" id="{BF7A044E-8258-41A6-B216-88C3A1939835}"/>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Pilot plan: validate the workflow first, then set commercial targets from observed results.</a:t>
            </a:r>
          </a:p>
        </p:txBody>
      </p:sp>
    </p:spTree>
    <p:extLst>
      <p:ext uri="{BB962C8B-B14F-4D97-AF65-F5344CB8AC3E}">
        <p14:creationId xmlns:p14="http://schemas.microsoft.com/office/powerpoint/2010/main" val="401657519"/>
      </p:ext>
    </p:extLst>
  </p:cSld>
</p:sld>
</file>

<file path=ppt/slides/slide14.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8" name="Team EcoMatch">
            <a:extLst xmlns:a="http://schemas.openxmlformats.org/drawingml/2006/main">
              <a:ext uri="{FF2B5EF4-FFF2-40B4-BE49-F238E27FC236}">
                <a16:creationId xmlns:a16="http://schemas.microsoft.com/office/drawing/2014/main" id="{6CC0E40C-573C-4B93-8D11-B4770E6383AF}"/>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6F7EE"/>
                </a:solidFill>
                <a:latin typeface="Arial"/>
                <a:ea typeface="Arial"/>
                <a:cs typeface="Arial"/>
              </a:defRPr>
            </a:pPr>
            <a:r>
              <a:rPr sz="4350" b="1">
                <a:solidFill>
                  <a:srgbClr val="F6F7EE"/>
                </a:solidFill>
                <a:latin typeface="Arial"/>
                <a:ea typeface="Arial"/>
                <a:cs typeface="Arial"/>
              </a:rPr>
              <a:t>Team EcoMatch</a:t>
            </a:r>
          </a:p>
        </p:txBody>
      </p:sp>
      <p:sp>
        <p:nvSpPr>
          <p:cNvPr id="2" name="14">
            <a:extLst xmlns:a="http://schemas.openxmlformats.org/drawingml/2006/main">
              <a:ext uri="{FF2B5EF4-FFF2-40B4-BE49-F238E27FC236}">
                <a16:creationId xmlns:a16="http://schemas.microsoft.com/office/drawing/2014/main" id="{B5D80B9A-0AC3-4055-8BCE-A983D36A7DAB}"/>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14</a:t>
            </a:r>
          </a:p>
        </p:txBody>
      </p:sp>
      <p:sp>
        <p:nvSpPr>
          <p:cNvPr id="3" name="Janit Kumar Hind">
            <a:extLst xmlns:a="http://schemas.openxmlformats.org/drawingml/2006/main">
              <a:ext uri="{FF2B5EF4-FFF2-40B4-BE49-F238E27FC236}">
                <a16:creationId xmlns:a16="http://schemas.microsoft.com/office/drawing/2014/main" id="{4A8774F2-1505-4DFD-9948-5DAFDE400466}"/>
              </a:ext>
            </a:extLst>
          </p:cNvPr>
          <p:cNvSpPr>
            <a:spLocks xmlns:a="http://schemas.openxmlformats.org/drawingml/2006/main" noGrp="1"/>
          </p:cNvSpPr>
          <p:nvPr/>
        </p:nvSpPr>
        <p:spPr>
          <a:xfrm xmlns:a="http://schemas.openxmlformats.org/drawingml/2006/main">
            <a:off x="742950" y="2371725"/>
            <a:ext cx="13144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950" b="1">
                <a:solidFill>
                  <a:srgbClr val="B9FF66"/>
                </a:solidFill>
                <a:latin typeface="Arial"/>
                <a:ea typeface="Arial"/>
                <a:cs typeface="Arial"/>
              </a:defRPr>
            </a:pPr>
            <a:r>
              <a:rPr sz="4950" b="1">
                <a:solidFill>
                  <a:srgbClr val="B9FF66"/>
                </a:solidFill>
                <a:latin typeface="Arial"/>
                <a:ea typeface="Arial"/>
                <a:cs typeface="Arial"/>
              </a:rPr>
              <a:t>Janit Kumar Hind</a:t>
            </a:r>
          </a:p>
        </p:txBody>
      </p:sp>
      <p:sp>
        <p:nvSpPr>
          <p:cNvPr id="4" name="Team leader">
            <a:extLst xmlns:a="http://schemas.openxmlformats.org/drawingml/2006/main">
              <a:ext uri="{FF2B5EF4-FFF2-40B4-BE49-F238E27FC236}">
                <a16:creationId xmlns:a16="http://schemas.microsoft.com/office/drawing/2014/main" id="{021A389E-6681-4455-95E5-915F27A194D6}"/>
              </a:ext>
            </a:extLst>
          </p:cNvPr>
          <p:cNvSpPr>
            <a:spLocks xmlns:a="http://schemas.openxmlformats.org/drawingml/2006/main" noGrp="1"/>
          </p:cNvSpPr>
          <p:nvPr/>
        </p:nvSpPr>
        <p:spPr>
          <a:xfrm xmlns:a="http://schemas.openxmlformats.org/drawingml/2006/main">
            <a:off x="781050" y="350520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6F7EE"/>
                </a:solidFill>
                <a:latin typeface="Arial"/>
                <a:ea typeface="Arial"/>
                <a:cs typeface="Arial"/>
              </a:defRPr>
            </a:pPr>
            <a:r>
              <a:rPr sz="2475" b="0">
                <a:solidFill>
                  <a:srgbClr val="F6F7EE"/>
                </a:solidFill>
                <a:latin typeface="Arial"/>
                <a:ea typeface="Arial"/>
                <a:cs typeface="Arial"/>
              </a:rPr>
              <a:t>Team leader</a:t>
            </a:r>
          </a:p>
        </p:txBody>
      </p:sp>
      <p:sp>
        <p:nvSpPr>
          <p:cNvPr id="5" name="Krish Tiwari&#10;Jeetu Yadav">
            <a:extLst xmlns:a="http://schemas.openxmlformats.org/drawingml/2006/main">
              <a:ext uri="{FF2B5EF4-FFF2-40B4-BE49-F238E27FC236}">
                <a16:creationId xmlns:a16="http://schemas.microsoft.com/office/drawing/2014/main" id="{52F94996-8B32-47A6-8E9F-4656393D241B}"/>
              </a:ext>
            </a:extLst>
          </p:cNvPr>
          <p:cNvSpPr>
            <a:spLocks xmlns:a="http://schemas.openxmlformats.org/drawingml/2006/main" noGrp="1"/>
          </p:cNvSpPr>
          <p:nvPr/>
        </p:nvSpPr>
        <p:spPr>
          <a:xfrm xmlns:a="http://schemas.openxmlformats.org/drawingml/2006/main">
            <a:off x="781050" y="48577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Krish Tiwari</a:t>
            </a:r>
          </a:p>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Jeetu Yadav</a:t>
            </a:r>
          </a:p>
        </p:txBody>
      </p:sp>
      <p:sp>
        <p:nvSpPr>
          <p:cNvPr id="6" name="Khushboo Sharma&#10;Khushi Kumari">
            <a:extLst xmlns:a="http://schemas.openxmlformats.org/drawingml/2006/main">
              <a:ext uri="{FF2B5EF4-FFF2-40B4-BE49-F238E27FC236}">
                <a16:creationId xmlns:a16="http://schemas.microsoft.com/office/drawing/2014/main" id="{376C267A-CCC3-40EB-AA1F-CC920831B393}"/>
              </a:ext>
            </a:extLst>
          </p:cNvPr>
          <p:cNvSpPr>
            <a:spLocks xmlns:a="http://schemas.openxmlformats.org/drawingml/2006/main" noGrp="1"/>
          </p:cNvSpPr>
          <p:nvPr/>
        </p:nvSpPr>
        <p:spPr>
          <a:xfrm xmlns:a="http://schemas.openxmlformats.org/drawingml/2006/main">
            <a:off x="8229600" y="4857750"/>
            <a:ext cx="62579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Khushboo Sharma</a:t>
            </a:r>
          </a:p>
          <a:p xmlns:a="http://schemas.openxmlformats.org/drawingml/2006/main">
            <a:pPr>
              <a:defRPr sz="3450" b="0">
                <a:solidFill>
                  <a:srgbClr val="F6F7EE"/>
                </a:solidFill>
                <a:latin typeface="Arial"/>
                <a:ea typeface="Arial"/>
                <a:cs typeface="Arial"/>
              </a:defRPr>
            </a:pPr>
            <a:r>
              <a:rPr sz="3450" b="0">
                <a:solidFill>
                  <a:srgbClr val="F6F7EE"/>
                </a:solidFill>
                <a:latin typeface="Arial"/>
                <a:ea typeface="Arial"/>
                <a:cs typeface="Arial"/>
              </a:rPr>
              <a:t>Khushi Kumari</a:t>
            </a:r>
          </a:p>
        </p:txBody>
      </p:sp>
      <p:sp>
        <p:nvSpPr>
          <p:cNvPr id="7" name="hindjanit8@gmail.com     7982615157">
            <a:extLst xmlns:a="http://schemas.openxmlformats.org/drawingml/2006/main">
              <a:ext uri="{FF2B5EF4-FFF2-40B4-BE49-F238E27FC236}">
                <a16:creationId xmlns:a16="http://schemas.microsoft.com/office/drawing/2014/main" id="{8FA64D60-B473-49B5-9A6F-8F6A5EE58AAB}"/>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hindjanit8@gmail.com     7982615157</a:t>
            </a:r>
          </a:p>
        </p:txBody>
      </p:sp>
    </p:spTree>
    <p:extLst>
      <p:ext uri="{BB962C8B-B14F-4D97-AF65-F5344CB8AC3E}">
        <p14:creationId xmlns:p14="http://schemas.microsoft.com/office/powerpoint/2010/main" val="1172125108"/>
      </p:ext>
    </p:extLst>
  </p:cSld>
</p:sld>
</file>

<file path=ppt/slides/slide15.xml><?xml version="1.0" encoding="utf-8"?>
<p:sld xmlns:p="http://schemas.openxmlformats.org/presentationml/2006/main">
  <p:cSld>
    <p:bg>
      <p:bgPr>
        <a:solidFill xmlns:a="http://schemas.openxmlformats.org/drawingml/2006/main">
          <a:srgbClr val="0B2118"/>
        </a:solidFill>
      </p:bgPr>
    </p:bg>
    <p:spTree>
      <p:nvGrpSpPr>
        <p:cNvPr id="1" name=""/>
        <p:cNvGrpSpPr/>
        <p:nvPr/>
      </p:nvGrpSpPr>
      <p:grpSpPr>
        <a:xfrm xmlns:a="http://schemas.openxmlformats.org/drawingml/2006/main"/>
      </p:grpSpPr>
      <p:sp>
        <p:nvSpPr>
          <p:cNvPr id="7" name="15">
            <a:extLst xmlns:a="http://schemas.openxmlformats.org/drawingml/2006/main">
              <a:ext uri="{FF2B5EF4-FFF2-40B4-BE49-F238E27FC236}">
                <a16:creationId xmlns:a16="http://schemas.microsoft.com/office/drawing/2014/main" id="{FC571D44-4233-4FCA-9184-E372343CA78A}"/>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BCD0C0"/>
                </a:solidFill>
                <a:latin typeface="Arial"/>
                <a:ea typeface="Arial"/>
                <a:cs typeface="Arial"/>
              </a:defRPr>
            </a:pPr>
            <a:r>
              <a:rPr sz="1500" b="0">
                <a:solidFill>
                  <a:srgbClr val="BCD0C0"/>
                </a:solidFill>
                <a:latin typeface="Arial"/>
                <a:ea typeface="Arial"/>
                <a:cs typeface="Arial"/>
              </a:rPr>
              <a:t>15</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4e2a2693c2c44c6"/>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3" name="EcoMatch">
            <a:extLst xmlns:a="http://schemas.openxmlformats.org/drawingml/2006/main">
              <a:ext uri="{FF2B5EF4-FFF2-40B4-BE49-F238E27FC236}">
                <a16:creationId xmlns:a16="http://schemas.microsoft.com/office/drawing/2014/main" id="{EBC448FA-F65E-4110-A0BC-B589A5EE8160}"/>
              </a:ext>
            </a:extLst>
          </p:cNvPr>
          <p:cNvSpPr>
            <a:spLocks xmlns:a="http://schemas.openxmlformats.org/drawingml/2006/main" noGrp="1"/>
          </p:cNvSpPr>
          <p:nvPr/>
        </p:nvSpPr>
        <p:spPr>
          <a:xfrm xmlns:a="http://schemas.openxmlformats.org/drawingml/2006/main">
            <a:off x="742950" y="1095375"/>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675" b="1">
                <a:solidFill>
                  <a:srgbClr val="F6F7EE"/>
                </a:solidFill>
                <a:latin typeface="Arial"/>
                <a:ea typeface="Arial"/>
                <a:cs typeface="Arial"/>
              </a:defRPr>
            </a:pPr>
            <a:r>
              <a:rPr sz="6675" b="1">
                <a:solidFill>
                  <a:srgbClr val="F6F7EE"/>
                </a:solidFill>
                <a:latin typeface="Arial"/>
                <a:ea typeface="Arial"/>
                <a:cs typeface="Arial"/>
              </a:rPr>
              <a:t>EcoMatch</a:t>
            </a:r>
          </a:p>
        </p:txBody>
      </p:sp>
      <p:sp>
        <p:nvSpPr>
          <p:cNvPr id="4" name="Let’s put&#10;useful assets&#10;back to work.">
            <a:extLst xmlns:a="http://schemas.openxmlformats.org/drawingml/2006/main">
              <a:ext uri="{FF2B5EF4-FFF2-40B4-BE49-F238E27FC236}">
                <a16:creationId xmlns:a16="http://schemas.microsoft.com/office/drawing/2014/main" id="{E01F1C96-C67B-4597-95BC-CBCBD23F4A90}"/>
              </a:ext>
            </a:extLst>
          </p:cNvPr>
          <p:cNvSpPr>
            <a:spLocks xmlns:a="http://schemas.openxmlformats.org/drawingml/2006/main" noGrp="1"/>
          </p:cNvSpPr>
          <p:nvPr/>
        </p:nvSpPr>
        <p:spPr>
          <a:xfrm xmlns:a="http://schemas.openxmlformats.org/drawingml/2006/main">
            <a:off x="742950" y="2905125"/>
            <a:ext cx="66675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Let’s put</a:t>
            </a:r>
          </a:p>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useful assets</a:t>
            </a:r>
          </a:p>
          <a:p xmlns:a="http://schemas.openxmlformats.org/drawingml/2006/main">
            <a:pPr>
              <a:defRPr sz="5100" b="1">
                <a:solidFill>
                  <a:srgbClr val="B9FF66"/>
                </a:solidFill>
                <a:latin typeface="Arial"/>
                <a:ea typeface="Arial"/>
                <a:cs typeface="Arial"/>
              </a:defRPr>
            </a:pPr>
            <a:r>
              <a:rPr sz="5100" b="1">
                <a:solidFill>
                  <a:srgbClr val="B9FF66"/>
                </a:solidFill>
                <a:latin typeface="Arial"/>
                <a:ea typeface="Arial"/>
                <a:cs typeface="Arial"/>
              </a:rPr>
              <a:t>back to work.</a:t>
            </a:r>
          </a:p>
        </p:txBody>
      </p:sp>
      <p:sp>
        <p:nvSpPr>
          <p:cNvPr id="5" name="Seeking pilot partners&#10;and product feedback">
            <a:extLst xmlns:a="http://schemas.openxmlformats.org/drawingml/2006/main">
              <a:ext uri="{FF2B5EF4-FFF2-40B4-BE49-F238E27FC236}">
                <a16:creationId xmlns:a16="http://schemas.microsoft.com/office/drawing/2014/main" id="{3B86D078-7007-4A8A-8F36-C31E702FE39E}"/>
              </a:ext>
            </a:extLst>
          </p:cNvPr>
          <p:cNvSpPr>
            <a:spLocks xmlns:a="http://schemas.openxmlformats.org/drawingml/2006/main" noGrp="1"/>
          </p:cNvSpPr>
          <p:nvPr/>
        </p:nvSpPr>
        <p:spPr>
          <a:xfrm xmlns:a="http://schemas.openxmlformats.org/drawingml/2006/main">
            <a:off x="781050" y="6124575"/>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F6F7EE"/>
                </a:solidFill>
                <a:latin typeface="Arial"/>
                <a:ea typeface="Arial"/>
                <a:cs typeface="Arial"/>
              </a:defRPr>
            </a:pPr>
            <a:r>
              <a:rPr sz="2550" b="0">
                <a:solidFill>
                  <a:srgbClr val="F6F7EE"/>
                </a:solidFill>
                <a:latin typeface="Arial"/>
                <a:ea typeface="Arial"/>
                <a:cs typeface="Arial"/>
              </a:rPr>
              <a:t>Seeking pilot partners</a:t>
            </a:r>
          </a:p>
          <a:p xmlns:a="http://schemas.openxmlformats.org/drawingml/2006/main">
            <a:pPr>
              <a:defRPr sz="2550" b="0">
                <a:solidFill>
                  <a:srgbClr val="F6F7EE"/>
                </a:solidFill>
                <a:latin typeface="Arial"/>
                <a:ea typeface="Arial"/>
                <a:cs typeface="Arial"/>
              </a:defRPr>
            </a:pPr>
            <a:r>
              <a:rPr sz="2550" b="0">
                <a:solidFill>
                  <a:srgbClr val="F6F7EE"/>
                </a:solidFill>
                <a:latin typeface="Arial"/>
                <a:ea typeface="Arial"/>
                <a:cs typeface="Arial"/>
              </a:rPr>
              <a:t>and product feedback</a:t>
            </a:r>
          </a:p>
        </p:txBody>
      </p:sp>
      <p:sp>
        <p:nvSpPr>
          <p:cNvPr id="6" name="eco-match-sepia.vercel.app">
            <a:extLst xmlns:a="http://schemas.openxmlformats.org/drawingml/2006/main">
              <a:ext uri="{FF2B5EF4-FFF2-40B4-BE49-F238E27FC236}">
                <a16:creationId xmlns:a16="http://schemas.microsoft.com/office/drawing/2014/main" id="{E76BA3E3-BD28-4E82-9709-6097B15B8327}"/>
              </a:ext>
            </a:extLst>
          </p:cNvPr>
          <p:cNvSpPr>
            <a:spLocks xmlns:a="http://schemas.openxmlformats.org/drawingml/2006/main" noGrp="1"/>
          </p:cNvSpPr>
          <p:nvPr/>
        </p:nvSpPr>
        <p:spPr>
          <a:xfrm xmlns:a="http://schemas.openxmlformats.org/drawingml/2006/main">
            <a:off x="781050" y="7524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6F7EE"/>
                </a:solidFill>
                <a:latin typeface="Arial"/>
                <a:ea typeface="Arial"/>
                <a:cs typeface="Arial"/>
              </a:defRPr>
            </a:pPr>
            <a:r>
              <a:rPr sz="2175" b="0">
                <a:solidFill>
                  <a:srgbClr val="F6F7EE"/>
                </a:solidFill>
                <a:latin typeface="Arial"/>
                <a:ea typeface="Arial"/>
                <a:cs typeface="Arial"/>
              </a:rPr>
              <a:t>eco-match-sepia.vercel.app</a:t>
            </a:r>
          </a:p>
        </p:txBody>
      </p:sp>
    </p:spTree>
    <p:extLst>
      <p:ext uri="{BB962C8B-B14F-4D97-AF65-F5344CB8AC3E}">
        <p14:creationId xmlns:p14="http://schemas.microsoft.com/office/powerpoint/2010/main" val="554311910"/>
      </p:ext>
    </p:extLst>
  </p:cSld>
</p:sld>
</file>

<file path=ppt/slides/slide16.xml><?xml version="1.0" encoding="utf-8"?>
<p:sld xmlns:p="http://schemas.openxmlformats.org/presentationml/2006/main">
  <p:cSld>
    <p:bg>
      <p:bgPr>
        <a:solidFill xmlns:a="http://schemas.openxmlformats.org/drawingml/2006/main">
          <a:srgbClr val="F3F4E9"/>
        </a:solidFill>
      </p:bgPr>
    </p:bg>
    <p:spTree>
      <p:nvGrpSpPr>
        <p:cNvPr id="1" name=""/>
        <p:cNvGrpSpPr/>
        <p:nvPr/>
      </p:nvGrpSpPr>
      <p:grpSpPr>
        <a:xfrm xmlns:a="http://schemas.openxmlformats.org/drawingml/2006/main"/>
      </p:grpSpPr>
      <p:sp>
        <p:nvSpPr>
          <p:cNvPr id="8" name="Technical foundation and next validation">
            <a:extLst xmlns:a="http://schemas.openxmlformats.org/drawingml/2006/main">
              <a:ext uri="{FF2B5EF4-FFF2-40B4-BE49-F238E27FC236}">
                <a16:creationId xmlns:a16="http://schemas.microsoft.com/office/drawing/2014/main" id="{CB53BE48-636B-43F4-88DE-71BCB0B3B176}"/>
              </a:ext>
            </a:extLst>
          </p:cNvPr>
          <p:cNvSpPr>
            <a:spLocks xmlns:a="http://schemas.openxmlformats.org/drawingml/2006/main" noGrp="1"/>
          </p:cNvSpPr>
          <p:nvPr/>
        </p:nvSpPr>
        <p:spPr>
          <a:xfrm xmlns:a="http://schemas.openxmlformats.org/drawingml/2006/main">
            <a:off x="723900" y="609600"/>
            <a:ext cx="1362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10251B"/>
                </a:solidFill>
                <a:latin typeface="Arial"/>
                <a:ea typeface="Arial"/>
                <a:cs typeface="Arial"/>
              </a:defRPr>
            </a:pPr>
            <a:r>
              <a:rPr sz="4350" b="1">
                <a:solidFill>
                  <a:srgbClr val="10251B"/>
                </a:solidFill>
                <a:latin typeface="Arial"/>
                <a:ea typeface="Arial"/>
                <a:cs typeface="Arial"/>
              </a:rPr>
              <a:t>Technical foundation and next validation</a:t>
            </a:r>
          </a:p>
        </p:txBody>
      </p:sp>
      <p:sp>
        <p:nvSpPr>
          <p:cNvPr id="2" name="16">
            <a:extLst xmlns:a="http://schemas.openxmlformats.org/drawingml/2006/main">
              <a:ext uri="{FF2B5EF4-FFF2-40B4-BE49-F238E27FC236}">
                <a16:creationId xmlns:a16="http://schemas.microsoft.com/office/drawing/2014/main" id="{F593B270-C670-478A-9C10-28729228344B}"/>
              </a:ext>
            </a:extLst>
          </p:cNvPr>
          <p:cNvSpPr>
            <a:spLocks xmlns:a="http://schemas.openxmlformats.org/drawingml/2006/main" noGrp="1"/>
          </p:cNvSpPr>
          <p:nvPr/>
        </p:nvSpPr>
        <p:spPr>
          <a:xfrm xmlns:a="http://schemas.openxmlformats.org/drawingml/2006/main">
            <a:off x="13954125" y="8048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16</a:t>
            </a:r>
          </a:p>
        </p:txBody>
      </p:sp>
      <p:sp>
        <p:nvSpPr>
          <p:cNvPr id="3" name="BUILT IN THE PROTOTYPE">
            <a:extLst xmlns:a="http://schemas.openxmlformats.org/drawingml/2006/main">
              <a:ext uri="{FF2B5EF4-FFF2-40B4-BE49-F238E27FC236}">
                <a16:creationId xmlns:a16="http://schemas.microsoft.com/office/drawing/2014/main" id="{212BBBC0-394D-422F-82AA-F16EC17044E5}"/>
              </a:ext>
            </a:extLst>
          </p:cNvPr>
          <p:cNvSpPr>
            <a:spLocks xmlns:a="http://schemas.openxmlformats.org/drawingml/2006/main" noGrp="1"/>
          </p:cNvSpPr>
          <p:nvPr/>
        </p:nvSpPr>
        <p:spPr>
          <a:xfrm xmlns:a="http://schemas.openxmlformats.org/drawingml/2006/main">
            <a:off x="742950" y="2152650"/>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BUILT IN THE PROTOTYPE</a:t>
            </a:r>
          </a:p>
        </p:txBody>
      </p:sp>
      <p:sp>
        <p:nvSpPr>
          <p:cNvPr id="4" name="NEXT VALIDATION">
            <a:extLst xmlns:a="http://schemas.openxmlformats.org/drawingml/2006/main">
              <a:ext uri="{FF2B5EF4-FFF2-40B4-BE49-F238E27FC236}">
                <a16:creationId xmlns:a16="http://schemas.microsoft.com/office/drawing/2014/main" id="{E0AE01D1-75B6-4ECB-9D00-8D51E2BBF6F7}"/>
              </a:ext>
            </a:extLst>
          </p:cNvPr>
          <p:cNvSpPr>
            <a:spLocks xmlns:a="http://schemas.openxmlformats.org/drawingml/2006/main" noGrp="1"/>
          </p:cNvSpPr>
          <p:nvPr/>
        </p:nvSpPr>
        <p:spPr>
          <a:xfrm xmlns:a="http://schemas.openxmlformats.org/drawingml/2006/main">
            <a:off x="8362950" y="2152650"/>
            <a:ext cx="6038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587062"/>
                </a:solidFill>
                <a:latin typeface="Arial"/>
                <a:ea typeface="Arial"/>
                <a:cs typeface="Arial"/>
              </a:defRPr>
            </a:pPr>
            <a:r>
              <a:rPr sz="2250" b="1">
                <a:solidFill>
                  <a:srgbClr val="587062"/>
                </a:solidFill>
                <a:latin typeface="Arial"/>
                <a:ea typeface="Arial"/>
                <a:cs typeface="Arial"/>
              </a:rPr>
              <a:t>NEXT VALIDATION</a:t>
            </a:r>
          </a:p>
        </p:txBody>
      </p:sp>
      <p:sp>
        <p:nvSpPr>
          <p:cNvPr id="5" name="Next.js + React&#10;Supabase Auth, database and storage&#10;AI ">
            <a:extLst xmlns:a="http://schemas.openxmlformats.org/drawingml/2006/main">
              <a:ext uri="{FF2B5EF4-FFF2-40B4-BE49-F238E27FC236}">
                <a16:creationId xmlns:a16="http://schemas.microsoft.com/office/drawing/2014/main" id="{568B89EF-3429-4291-9DA4-BB00D91CB985}"/>
              </a:ext>
            </a:extLst>
          </p:cNvPr>
          <p:cNvSpPr>
            <a:spLocks xmlns:a="http://schemas.openxmlformats.org/drawingml/2006/main" noGrp="1"/>
          </p:cNvSpPr>
          <p:nvPr/>
        </p:nvSpPr>
        <p:spPr>
          <a:xfrm xmlns:a="http://schemas.openxmlformats.org/drawingml/2006/main">
            <a:off x="742950" y="3248025"/>
            <a:ext cx="666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Next.js + React</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Supabase Auth, database and storage</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AI routes with fallback behaviour</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Deal and ownership-event workflows</a:t>
            </a:r>
          </a:p>
        </p:txBody>
      </p:sp>
      <p:sp>
        <p:nvSpPr>
          <p:cNvPr id="6" name="Complete exchange testing&#10;AI output quality and disclos">
            <a:extLst xmlns:a="http://schemas.openxmlformats.org/drawingml/2006/main">
              <a:ext uri="{FF2B5EF4-FFF2-40B4-BE49-F238E27FC236}">
                <a16:creationId xmlns:a16="http://schemas.microsoft.com/office/drawing/2014/main" id="{CBB3B39F-3A01-45C0-BC77-EB06379EAE03}"/>
              </a:ext>
            </a:extLst>
          </p:cNvPr>
          <p:cNvSpPr>
            <a:spLocks xmlns:a="http://schemas.openxmlformats.org/drawingml/2006/main" noGrp="1"/>
          </p:cNvSpPr>
          <p:nvPr/>
        </p:nvSpPr>
        <p:spPr>
          <a:xfrm xmlns:a="http://schemas.openxmlformats.org/drawingml/2006/main">
            <a:off x="8362950" y="3248025"/>
            <a:ext cx="6000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Complete exchange testing</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AI output quality and disclosure</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Production identity and payment flow</a:t>
            </a:r>
          </a:p>
          <a:p xmlns:a="http://schemas.openxmlformats.org/drawingml/2006/main">
            <a:pPr>
              <a:defRPr sz="2700" b="0">
                <a:solidFill>
                  <a:srgbClr val="10251B"/>
                </a:solidFill>
                <a:latin typeface="Arial"/>
                <a:ea typeface="Arial"/>
                <a:cs typeface="Arial"/>
              </a:defRPr>
            </a:pPr>
            <a:r>
              <a:rPr sz="2700" b="0">
                <a:solidFill>
                  <a:srgbClr val="10251B"/>
                </a:solidFill>
                <a:latin typeface="Arial"/>
                <a:ea typeface="Arial"/>
                <a:cs typeface="Arial"/>
              </a:rPr>
              <a:t>Documented impact methodology</a:t>
            </a:r>
          </a:p>
        </p:txBody>
      </p:sp>
      <p:sp>
        <p:nvSpPr>
          <p:cNvPr id="7" name="Q&amp;A backup. AI confidence scores and environmental esti">
            <a:extLst xmlns:a="http://schemas.openxmlformats.org/drawingml/2006/main">
              <a:ext uri="{FF2B5EF4-FFF2-40B4-BE49-F238E27FC236}">
                <a16:creationId xmlns:a16="http://schemas.microsoft.com/office/drawing/2014/main" id="{6952E980-53AE-4ACB-B2B6-4FBE257378E1}"/>
              </a:ext>
            </a:extLst>
          </p:cNvPr>
          <p:cNvSpPr>
            <a:spLocks xmlns:a="http://schemas.openxmlformats.org/drawingml/2006/main" noGrp="1"/>
          </p:cNvSpPr>
          <p:nvPr/>
        </p:nvSpPr>
        <p:spPr>
          <a:xfrm xmlns:a="http://schemas.openxmlformats.org/drawingml/2006/main">
            <a:off x="742950" y="7772400"/>
            <a:ext cx="1276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87062"/>
                </a:solidFill>
                <a:latin typeface="Arial"/>
                <a:ea typeface="Arial"/>
                <a:cs typeface="Arial"/>
              </a:defRPr>
            </a:pPr>
            <a:r>
              <a:rPr sz="1500" b="0">
                <a:solidFill>
                  <a:srgbClr val="587062"/>
                </a:solidFill>
                <a:latin typeface="Arial"/>
                <a:ea typeface="Arial"/>
                <a:cs typeface="Arial"/>
              </a:rPr>
              <a:t>Q&amp;A backup. AI confidence scores and environmental estimates are not independent certifications.</a:t>
            </a:r>
          </a:p>
        </p:txBody>
      </p:sp>
    </p:spTree>
    <p:extLst>
      <p:ext uri="{BB962C8B-B14F-4D97-AF65-F5344CB8AC3E}">
        <p14:creationId xmlns:p14="http://schemas.microsoft.com/office/powerpoint/2010/main" val="5714574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2026-09-23T14:22:49.6790000Z</dcterms:created>
  <dcterms:modified xsi:type="dcterms:W3CDTF">2026-09-23T14:22:49.6790000Z</dcterms:modified>
</coreProperties>
</file>