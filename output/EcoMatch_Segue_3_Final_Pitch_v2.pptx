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b6f3af590d4397" /><Relationship Type="http://schemas.openxmlformats.org/officeDocument/2006/relationships/extended-properties" Target="/docProps/app.xml" Id="R4eb80bcc2ab74b95" /><Relationship Type="http://schemas.openxmlformats.org/officeDocument/2006/relationships/officeDocument" Target="/ppt/presentation.xml" Id="Rbc21a6f3a79740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1bd18258434f5d"/>
  </p:sldMasterIdLst>
  <p:notesMasterIdLst>
    <p:notesMasterId xmlns:r="http://schemas.openxmlformats.org/officeDocument/2006/relationships" r:id="R2ea8e2838e044241"/>
  </p:notesMasterIdLst>
  <p:sldIdLst>
    <p:sldId xmlns:r="http://schemas.openxmlformats.org/officeDocument/2006/relationships" id="256" r:id="R5b458118d01e4b09"/>
    <p:sldId xmlns:r="http://schemas.openxmlformats.org/officeDocument/2006/relationships" id="257" r:id="R163cd9998b5e4f81"/>
    <p:sldId xmlns:r="http://schemas.openxmlformats.org/officeDocument/2006/relationships" id="258" r:id="R7181c22a7f304c63"/>
    <p:sldId xmlns:r="http://schemas.openxmlformats.org/officeDocument/2006/relationships" id="259" r:id="Ra9066d2c0db44cc7"/>
    <p:sldId xmlns:r="http://schemas.openxmlformats.org/officeDocument/2006/relationships" id="260" r:id="R055473a1e6fc40a7"/>
    <p:sldId xmlns:r="http://schemas.openxmlformats.org/officeDocument/2006/relationships" id="261" r:id="R187935bc466b4ee1"/>
    <p:sldId xmlns:r="http://schemas.openxmlformats.org/officeDocument/2006/relationships" id="262" r:id="R669495ef34804432"/>
    <p:sldId xmlns:r="http://schemas.openxmlformats.org/officeDocument/2006/relationships" id="263" r:id="Rfb4c3d942a2e4baa"/>
    <p:sldId xmlns:r="http://schemas.openxmlformats.org/officeDocument/2006/relationships" id="264" r:id="R2b0aaca1065646e5"/>
    <p:sldId xmlns:r="http://schemas.openxmlformats.org/officeDocument/2006/relationships" id="265" r:id="R3577ef9fa7ab4c94"/>
    <p:sldId xmlns:r="http://schemas.openxmlformats.org/officeDocument/2006/relationships" id="266" r:id="R4856d8ba781143c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c84a3c71fc4ba8" /><Relationship Type="http://schemas.openxmlformats.org/officeDocument/2006/relationships/slideMaster" Target="/ppt/slideMasters/slideMaster1.xml" Id="R7c1bd18258434f5d" /><Relationship Type="http://schemas.openxmlformats.org/officeDocument/2006/relationships/notesMaster" Target="/ppt/notesMasters/notesMaster1.xml" Id="R2ea8e2838e044241" /><Relationship Type="http://schemas.openxmlformats.org/officeDocument/2006/relationships/presProps" Target="/ppt/presProps.xml" Id="Re4dfc74821dc4df5" /><Relationship Type="http://schemas.openxmlformats.org/officeDocument/2006/relationships/tableStyles" Target="/ppt/tableStyles.xml" Id="Re8a078db38ac49b7" /><Relationship Type="http://schemas.openxmlformats.org/officeDocument/2006/relationships/slide" Target="/ppt/slides/slide1.xml" Id="R5b458118d01e4b09" /><Relationship Type="http://schemas.openxmlformats.org/officeDocument/2006/relationships/slide" Target="/ppt/slides/slide2.xml" Id="R163cd9998b5e4f81" /><Relationship Type="http://schemas.openxmlformats.org/officeDocument/2006/relationships/slide" Target="/ppt/slides/slide3.xml" Id="R7181c22a7f304c63" /><Relationship Type="http://schemas.openxmlformats.org/officeDocument/2006/relationships/slide" Target="/ppt/slides/slide4.xml" Id="Ra9066d2c0db44cc7" /><Relationship Type="http://schemas.openxmlformats.org/officeDocument/2006/relationships/slide" Target="/ppt/slides/slide5.xml" Id="R055473a1e6fc40a7" /><Relationship Type="http://schemas.openxmlformats.org/officeDocument/2006/relationships/slide" Target="/ppt/slides/slide6.xml" Id="R187935bc466b4ee1" /><Relationship Type="http://schemas.openxmlformats.org/officeDocument/2006/relationships/slide" Target="/ppt/slides/slide7.xml" Id="R669495ef34804432" /><Relationship Type="http://schemas.openxmlformats.org/officeDocument/2006/relationships/slide" Target="/ppt/slides/slide8.xml" Id="Rfb4c3d942a2e4baa" /><Relationship Type="http://schemas.openxmlformats.org/officeDocument/2006/relationships/slide" Target="/ppt/slides/slide9.xml" Id="R2b0aaca1065646e5" /><Relationship Type="http://schemas.openxmlformats.org/officeDocument/2006/relationships/slide" Target="/ppt/slides/slide10.xml" Id="R3577ef9fa7ab4c94" /><Relationship Type="http://schemas.openxmlformats.org/officeDocument/2006/relationships/slide" Target="/ppt/slides/slide11.xml" Id="R4856d8ba781143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265130cab0744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092f0ad1834a1b" /><Relationship Type="http://schemas.openxmlformats.org/officeDocument/2006/relationships/notesMaster" Target="/ppt/notesMasters/notesMaster1.xml" Id="Re413f841d46747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c69a367acc4f84" /><Relationship Type="http://schemas.openxmlformats.org/officeDocument/2006/relationships/notesMaster" Target="/ppt/notesMasters/notesMaster1.xml" Id="Rffb6925c69944d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7b6bee489134cfb" /><Relationship Type="http://schemas.openxmlformats.org/officeDocument/2006/relationships/notesMaster" Target="/ppt/notesMasters/notesMaster1.xml" Id="Rac5eb393f65a43c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d73c80e311b4766" /><Relationship Type="http://schemas.openxmlformats.org/officeDocument/2006/relationships/notesMaster" Target="/ppt/notesMasters/notesMaster1.xml" Id="R8d8eb0d06ec8424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0fdbf7439074fbf" /><Relationship Type="http://schemas.openxmlformats.org/officeDocument/2006/relationships/notesMaster" Target="/ppt/notesMasters/notesMaster1.xml" Id="Rf1d1dad8a8f247c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a1662c3f4cf4ecd" /><Relationship Type="http://schemas.openxmlformats.org/officeDocument/2006/relationships/notesMaster" Target="/ppt/notesMasters/notesMaster1.xml" Id="R59085cfa71ec414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07c00d8933a49c7" /><Relationship Type="http://schemas.openxmlformats.org/officeDocument/2006/relationships/notesMaster" Target="/ppt/notesMasters/notesMaster1.xml" Id="R6293feb9dee242f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12d916babdf421d" /><Relationship Type="http://schemas.openxmlformats.org/officeDocument/2006/relationships/notesMaster" Target="/ppt/notesMasters/notesMaster1.xml" Id="R82eb9e5eda164c8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da1352d5c4f4d7a" /><Relationship Type="http://schemas.openxmlformats.org/officeDocument/2006/relationships/notesMaster" Target="/ppt/notesMasters/notesMaster1.xml" Id="R5d334ff07d92418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44429ca044849a2" /><Relationship Type="http://schemas.openxmlformats.org/officeDocument/2006/relationships/notesMaster" Target="/ppt/notesMasters/notesMaster1.xml" Id="R32a0e603eaeb44a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6a49c4caa794a9c" /><Relationship Type="http://schemas.openxmlformats.org/officeDocument/2006/relationships/notesMaster" Target="/ppt/notesMasters/notesMaster1.xml" Id="Rf0992b63c7c744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EcoMatch helps cities recover value before usable material becomes waste. Show the live product after the pitch.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framing. No local waste statistic is claimed without a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https://sdgs.un.org/goals/goal11. Target 11.6 wording. EcoMatch contribution is an intended pathway, not a measured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 problem model based on product design observation. No customer validation count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Core EcoMatch workflow. Demo it live after slide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proof based on deployed EcoMatch application. Live URL: https://eco-match-sepia.vercel.app/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Integrity controls: browser does not choose pickup, product price or distance. Real carrier booking and payment are not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call every user verified. The platform displays distinct identity, listing and handover signals.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impact measures are proposed product metrics. No environmental savings figures are claimed until measurement methodology and pilot data are available.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Roadmap is a plan, not a forecast. Avoid revenue claims until pilot metrics and pricing validation are available.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 ask: invite judges to open the deployed app. End, then switch to the live product walkthrough.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804d108b2b434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72d68d8c16425b" /><Relationship Type="http://schemas.openxmlformats.org/officeDocument/2006/relationships/slideLayout" Target="/ppt/slideLayouts/slideLayout1.xml" Id="R3b47b6151c1448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47b6151c1448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ae7c18d71f46c9" /><Relationship Type="http://schemas.openxmlformats.org/officeDocument/2006/relationships/notesSlide" Target="/ppt/notesSlides/notesSlide1.xml" Id="R7b8dbc7267744c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74be830c634955" /><Relationship Type="http://schemas.openxmlformats.org/officeDocument/2006/relationships/notesSlide" Target="/ppt/notesSlides/notesSlide2.xml" Id="Rc2c8c1ff9d1d41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1c099e36a04132" /><Relationship Type="http://schemas.openxmlformats.org/officeDocument/2006/relationships/notesSlide" Target="/ppt/notesSlides/notesSlide3.xml" Id="R2170bd00b52e4e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b5eb81cfa145bd" /><Relationship Type="http://schemas.openxmlformats.org/officeDocument/2006/relationships/notesSlide" Target="/ppt/notesSlides/notesSlide4.xml" Id="R578d61ae433246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1b3c4d4d48482c" /><Relationship Type="http://schemas.openxmlformats.org/officeDocument/2006/relationships/notesSlide" Target="/ppt/notesSlides/notesSlide5.xml" Id="Rea54b59735454b8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f71e818e0c4452" /><Relationship Type="http://schemas.openxmlformats.org/officeDocument/2006/relationships/notesSlide" Target="/ppt/notesSlides/notesSlide6.xml" Id="R4148613b8ea1465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dfcce5e52a4fac" /><Relationship Type="http://schemas.openxmlformats.org/officeDocument/2006/relationships/notesSlide" Target="/ppt/notesSlides/notesSlide7.xml" Id="R989fdbd4293b433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ac27772c15495d" /><Relationship Type="http://schemas.openxmlformats.org/officeDocument/2006/relationships/notesSlide" Target="/ppt/notesSlides/notesSlide8.xml" Id="Re48dbea9a235444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9653a03b1b4a8d" /><Relationship Type="http://schemas.openxmlformats.org/officeDocument/2006/relationships/notesSlide" Target="/ppt/notesSlides/notesSlide9.xml" Id="R4bf91b77a76741c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5dfb75a3ef41d9" /><Relationship Type="http://schemas.openxmlformats.org/officeDocument/2006/relationships/notesSlide" Target="/ppt/notesSlides/notesSlide10.xml" Id="Re56d1b1d45e44f9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0bec5ee4334225" /><Relationship Type="http://schemas.openxmlformats.org/officeDocument/2006/relationships/notesSlide" Target="/ppt/notesSlides/notesSlide11.xml" Id="R5326e96d0015423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1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980320-6DB2-4911-B419-5622C3303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04850"/>
            <a:ext cx="857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F6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C9E66B-A2B0-4927-B54E-5740A163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04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9FF6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9FF66"/>
                </a:solidFill>
                <a:latin typeface="Arial"/>
                <a:ea typeface="Arial"/>
                <a:cs typeface="Arial"/>
              </a:rPr>
              <a:t>ECOMATCH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35C8B1-8228-4130-84C7-08401BCD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381125"/>
            <a:ext cx="72390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circular marketplace</a:t>
            </a:r>
          </a:p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for cleaner, more</a:t>
            </a:r>
          </a:p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resourceful cities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100AC1-487E-4CD0-B83B-7C56CE280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14800"/>
            <a:ext cx="609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7E7D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7E7DF"/>
                </a:solidFill>
                <a:latin typeface="Arial"/>
                <a:ea typeface="Arial"/>
                <a:cs typeface="Arial"/>
              </a:rPr>
              <a:t>Giving usable materials, equipment and industrial surplus a trusted second life.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D01429-C48B-49D3-BE9E-704FC1CE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333500"/>
            <a:ext cx="247650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B9FF6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4AF934-BB89-4AF9-B091-21A723AE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809750"/>
            <a:ext cx="161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900" b="1">
                <a:solidFill>
                  <a:srgbClr val="0B2118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0B211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523528-987E-41BE-8CC4-76DC9F1D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48000"/>
            <a:ext cx="2238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21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2118"/>
                </a:solidFill>
                <a:latin typeface="Arial"/>
                <a:ea typeface="Arial"/>
                <a:cs typeface="Arial"/>
              </a:rPr>
              <a:t>Sustainable Cities</a:t>
            </a:r>
          </a:p>
          <a:p xmlns:a="http://schemas.openxmlformats.org/drawingml/2006/main">
            <a:pPr algn="ctr">
              <a:defRPr sz="1275" b="1">
                <a:solidFill>
                  <a:srgbClr val="0B21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2118"/>
                </a:solidFill>
                <a:latin typeface="Arial"/>
                <a:ea typeface="Arial"/>
                <a:cs typeface="Arial"/>
              </a:rPr>
              <a:t>and Communities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640636-4B47-4BD3-B129-068DFFDF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1500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CBB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8CBBF"/>
                </a:solidFill>
                <a:latin typeface="Arial"/>
                <a:ea typeface="Arial"/>
                <a:cs typeface="Arial"/>
              </a:rPr>
              <a:t>Segue 3.0 Finale  |  Team EcoMatch</a:t>
            </a:r>
          </a:p>
          <a:p xmlns:a="http://schemas.openxmlformats.org/drawingml/2006/main">
            <a:pPr algn="l">
              <a:defRPr sz="1125" b="0">
                <a:solidFill>
                  <a:srgbClr val="B8CBB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8CBBF"/>
                </a:solidFill>
                <a:latin typeface="Arial"/>
                <a:ea typeface="Arial"/>
                <a:cs typeface="Arial"/>
              </a:rPr>
              <a:t>Janit Kumar Hind · Krish Tiwari · Jeetu Yadav · Khushboo Sharma · Khushi Kumari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F34D27-B7BC-40EE-8324-D140D0EFD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75310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9FF6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9FF66"/>
                </a:solidFill>
                <a:latin typeface="Arial"/>
                <a:ea typeface="Arial"/>
                <a:cs typeface="Arial"/>
              </a:rPr>
              <a:t>Live product</a:t>
            </a:r>
          </a:p>
          <a:p xmlns:a="http://schemas.openxmlformats.org/drawingml/2006/main">
            <a:pPr algn="r">
              <a:defRPr sz="975" b="1">
                <a:solidFill>
                  <a:srgbClr val="B9FF6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9FF66"/>
                </a:solidFill>
                <a:latin typeface="Arial"/>
                <a:ea typeface="Arial"/>
                <a:cs typeface="Arial"/>
              </a:rPr>
              <a:t>eco-match-sepia.vercel.app</a:t>
            </a:r>
          </a:p>
        </p:txBody>
      </p:sp>
    </p:spTree>
    <p:extLst>
      <p:ext uri="{BB962C8B-B14F-4D97-AF65-F5344CB8AC3E}">
        <p14:creationId xmlns:p14="http://schemas.microsoft.com/office/powerpoint/2010/main" val="19262975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4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56C4BB-54E1-4A56-B36D-40C2E03FE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A2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5A23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F75947-FE9E-4349-A226-91271723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The urban surplus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78DBDB-0AFC-4DD1-918B-510152C0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62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66C"/>
                </a:solidFill>
                <a:latin typeface="Arial"/>
                <a:ea typeface="Arial"/>
                <a:cs typeface="Arial"/>
              </a:rPr>
              <a:t>Usable assets are difficult to discover, verify and move before they become waste.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3AD5C3-4B83-4B66-BA4E-9F3DA818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51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F7356F-FDB4-4046-97AE-E9ACF0DB6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EcoMatch  |  Segue 3.0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8C5C82-E516-4D6D-AC78-BE439D8CF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5429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A city already has the material it needs.</a:t>
            </a:r>
          </a:p>
          <a:p xmlns:a="http://schemas.openxmlformats.org/drawingml/2006/main">
            <a:pPr algn="l">
              <a:defRPr sz="2625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It is simply locked inside offices, warehouses and institutions.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A93E8D-1250-4DAA-A676-564912515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47900"/>
            <a:ext cx="4191000" cy="278130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6CE164-54C8-4B76-80D5-50D7483E1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52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What happens today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67FC2B-90D4-43C0-B85F-4EDF8C30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48000"/>
            <a:ext cx="3238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08251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79BEC6-9B0C-4953-BBC6-1513760E4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24200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F1984B-19F8-4FDA-ABE0-B0FE8EEB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575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8251A"/>
                </a:solidFill>
                <a:latin typeface="Arial"/>
                <a:ea typeface="Arial"/>
                <a:cs typeface="Arial"/>
              </a:rPr>
              <a:t>A seller has usable surplus but no trusted buyer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1D6F1E-14AD-4090-B2C3-24BE838A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38550"/>
            <a:ext cx="3238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08251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ECF208-8E29-4CB2-8CAB-9D87E649D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714750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293B3A-57BF-4D95-B580-998B2510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6480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8251A"/>
                </a:solidFill>
                <a:latin typeface="Arial"/>
                <a:ea typeface="Arial"/>
                <a:cs typeface="Arial"/>
              </a:rPr>
              <a:t>A buyer cannot assess condition, location or fair value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ED8904-1035-4F94-995D-DC0F172F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29100"/>
            <a:ext cx="3238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08251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6BFE9A-16BE-43CE-BC35-60468084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305300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EF0E36-EC32-4BC9-9EDD-BE878FD5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2386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8251A"/>
                </a:solidFill>
                <a:latin typeface="Arial"/>
                <a:ea typeface="Arial"/>
                <a:cs typeface="Arial"/>
              </a:rPr>
              <a:t>Transport and handover feel risky, so reuse stalls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5CD248-1D6D-4546-B304-B1AB6E67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5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583D"/>
                </a:solidFill>
                <a:latin typeface="Arial"/>
                <a:ea typeface="Arial"/>
                <a:cs typeface="Arial"/>
              </a:rPr>
              <a:t>Result: material loses value, disposal pressure grows and cities miss a local reuse opportunity.</a:t>
            </a:r>
          </a:p>
        </p:txBody>
      </p:sp>
    </p:spTree>
    <p:extLst>
      <p:ext uri="{BB962C8B-B14F-4D97-AF65-F5344CB8AC3E}">
        <p14:creationId xmlns:p14="http://schemas.microsoft.com/office/powerpoint/2010/main" val="5203396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21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A87C7B-0876-4053-90C8-C731EB044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A2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5A23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8C1D6E-7AB8-4C8D-B53F-C11E98E5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Why SDG 11.6 is our anchor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F2BB84-87AD-4380-A814-7D558068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62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BB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BBF"/>
                </a:solidFill>
                <a:latin typeface="Arial"/>
                <a:ea typeface="Arial"/>
                <a:cs typeface="Arial"/>
              </a:rPr>
              <a:t>EcoMatch supports cleaner city resource flows through reuse before disposal.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F7F887-B4EE-471D-BEC3-4CFE30D0D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83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2566F9-F3E5-4677-9542-FE6736FB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7A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FB7AA"/>
                </a:solidFill>
                <a:latin typeface="Arial"/>
                <a:ea typeface="Arial"/>
                <a:cs typeface="Arial"/>
              </a:rPr>
              <a:t>EcoMatch  |  Segue 3.0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6B4BEB-D748-4947-B6F0-E6B5A5A4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781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“Reduce the adverse per capita environmental impact of cities … paying special attention to air quality and municipal and other waste management.”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0464B8-CED7-4E85-A3DB-E765A4F3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86000"/>
            <a:ext cx="1885950" cy="1885950"/>
          </a:xfrm>
          <a:prstGeom xmlns:a="http://schemas.openxmlformats.org/drawingml/2006/main" prst="roundRect">
            <a:avLst>
              <a:gd name="adj" fmla="val 8081"/>
            </a:avLst>
          </a:prstGeom>
          <a:solidFill xmlns:a="http://schemas.openxmlformats.org/drawingml/2006/main">
            <a:srgbClr val="F5A23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849461-BBE2-42CE-A463-16A67895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1409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0B211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0B2118"/>
                </a:solidFill>
                <a:latin typeface="Arial"/>
                <a:ea typeface="Arial"/>
                <a:cs typeface="Arial"/>
              </a:rPr>
              <a:t>11.6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ECEBDE-113A-4B72-B944-1C50B98D3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314700"/>
            <a:ext cx="14573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211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2118"/>
                </a:solidFill>
                <a:latin typeface="Arial"/>
                <a:ea typeface="Arial"/>
                <a:cs typeface="Arial"/>
              </a:rPr>
              <a:t>Waste management</a:t>
            </a:r>
          </a:p>
          <a:p xmlns:a="http://schemas.openxmlformats.org/drawingml/2006/main">
            <a:pPr algn="ctr">
              <a:defRPr sz="1125" b="1">
                <a:solidFill>
                  <a:srgbClr val="0B211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2118"/>
                </a:solidFill>
                <a:latin typeface="Arial"/>
                <a:ea typeface="Arial"/>
                <a:cs typeface="Arial"/>
              </a:rPr>
              <a:t>&amp; city impact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348716-4DD3-40FB-A956-DFAA4937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8239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FF7E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FF7E7"/>
                </a:solidFill>
                <a:latin typeface="Arial"/>
                <a:ea typeface="Arial"/>
                <a:cs typeface="Arial"/>
              </a:rPr>
              <a:t>EcoMatch acts upstream: it makes reuse a practical option before a usable item reaches the waste stream.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1D9972-A02E-4339-A6D1-616C96A8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67425"/>
            <a:ext cx="6858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C0B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AC0B3"/>
                </a:solidFill>
                <a:latin typeface="Arial"/>
                <a:ea typeface="Arial"/>
                <a:cs typeface="Arial"/>
              </a:rPr>
              <a:t>Source: United Nations Sustainable Development Goal 11, Target 11.6</a:t>
            </a:r>
          </a:p>
        </p:txBody>
      </p:sp>
    </p:spTree>
    <p:extLst>
      <p:ext uri="{BB962C8B-B14F-4D97-AF65-F5344CB8AC3E}">
        <p14:creationId xmlns:p14="http://schemas.microsoft.com/office/powerpoint/2010/main" val="17837365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4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311AAE-3452-400B-9662-8E8662096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A2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5A23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676CC6-7A62-443B-AF06-64A1437E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Three users, one broken exchange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B28A30-EE76-4A40-B4D3-EEB26BDB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62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66C"/>
                </a:solidFill>
                <a:latin typeface="Arial"/>
                <a:ea typeface="Arial"/>
                <a:cs typeface="Arial"/>
              </a:rPr>
              <a:t>Each stakeholder sees the same surplus through a different risk.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EB7286-ED26-4AB6-A4CA-C0E584DB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51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5F43FF-64CE-444E-A86C-28DBFACF7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EcoMatch  |  Segue 3.0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32D3B9-C9EE-46E6-A0A2-28ADA286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3143250" cy="2238375"/>
          </a:xfrm>
          <a:prstGeom xmlns:a="http://schemas.openxmlformats.org/drawingml/2006/main" prst="roundRect">
            <a:avLst>
              <a:gd name="adj" fmla="val 6809"/>
            </a:avLst>
          </a:prstGeom>
          <a:solidFill xmlns:a="http://schemas.openxmlformats.org/drawingml/2006/main">
            <a:srgbClr val="DFF7E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BAF905-0B4A-4E0E-BFA0-1D2E0122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956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Material owner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A07603-196F-4FF3-A79F-E0385386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2619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8251A"/>
                </a:solidFill>
                <a:latin typeface="Arial"/>
                <a:ea typeface="Arial"/>
                <a:cs typeface="Arial"/>
              </a:rPr>
              <a:t>“I want to recover value, but I need a serious buyer and safe pickup.”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4FBF48-B2CA-42F3-B427-36C22678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005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F744B4-7ACF-467D-AE17-78510A96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71750"/>
            <a:ext cx="3143250" cy="2238375"/>
          </a:xfrm>
          <a:prstGeom xmlns:a="http://schemas.openxmlformats.org/drawingml/2006/main" prst="roundRect">
            <a:avLst>
              <a:gd name="adj" fmla="val 6809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4528AA-E3A7-4CC8-870B-63EC1644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956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Buyer / recycler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23D011-A9F8-43E2-B235-31781539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09950"/>
            <a:ext cx="2619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8251A"/>
                </a:solidFill>
                <a:latin typeface="Arial"/>
                <a:ea typeface="Arial"/>
                <a:cs typeface="Arial"/>
              </a:rPr>
              <a:t>“I need condition, price and location clarity before committing.”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8D50FE-0B0D-4775-89BD-64D7D3D5B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005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E453CD-5B3D-4174-B7FD-C4531C48D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71750"/>
            <a:ext cx="3143250" cy="2238375"/>
          </a:xfrm>
          <a:prstGeom xmlns:a="http://schemas.openxmlformats.org/drawingml/2006/main" prst="roundRect">
            <a:avLst>
              <a:gd name="adj" fmla="val 6809"/>
            </a:avLst>
          </a:prstGeom>
          <a:solidFill xmlns:a="http://schemas.openxmlformats.org/drawingml/2006/main">
            <a:srgbClr val="FFE7B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0783DE-A286-459F-A386-279A5338F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956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City ecosystem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606343-C59C-49F3-82A0-336A79B6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09950"/>
            <a:ext cx="2619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8251A"/>
                </a:solidFill>
                <a:latin typeface="Arial"/>
                <a:ea typeface="Arial"/>
                <a:cs typeface="Arial"/>
              </a:rPr>
              <a:t>“More assets should circulate locally before they become disposal work.”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216DCD-D05C-4C6C-8C6C-798E9668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005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58243E-F66F-42E0-A779-867B1F94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158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1583D"/>
                </a:solidFill>
                <a:latin typeface="Arial"/>
                <a:ea typeface="Arial"/>
                <a:cs typeface="Arial"/>
              </a:rPr>
              <a:t>EcoMatch gives each side the information and protocol needed to progress to a safe exchange.</a:t>
            </a:r>
          </a:p>
        </p:txBody>
      </p:sp>
    </p:spTree>
    <p:extLst>
      <p:ext uri="{BB962C8B-B14F-4D97-AF65-F5344CB8AC3E}">
        <p14:creationId xmlns:p14="http://schemas.microsoft.com/office/powerpoint/2010/main" val="20324052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21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EE36E5-F177-4315-AE52-960B070FD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A2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5A23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FD7411-7D90-48E3-B103-7AC800F7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EcoMatch makes reuse tradeable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4CAA9E-BC10-4A4B-B73A-794CF328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62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BB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BBF"/>
                </a:solidFill>
                <a:latin typeface="Arial"/>
                <a:ea typeface="Arial"/>
                <a:cs typeface="Arial"/>
              </a:rPr>
              <a:t>A verified workflow turns a scattered exchange into a guided transaction.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3148AC-167A-42B0-82F7-CF3AD1C0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83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885BDE-BAE8-41D8-BD8F-EB0899B6D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7A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FB7AA"/>
                </a:solidFill>
                <a:latin typeface="Arial"/>
                <a:ea typeface="Arial"/>
                <a:cs typeface="Arial"/>
              </a:rPr>
              <a:t>EcoMatch  |  Segue 3.0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09E10A-C674-4AB6-B1EE-38EA6EEB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28875"/>
            <a:ext cx="10668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B9FF6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F53249-EE51-4FE5-9468-196EA2A41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24125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211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11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77AEAE-551A-490E-892F-61783CDB3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4479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FF0DB3-A8B6-47BC-96B8-77FFB3C4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466975"/>
            <a:ext cx="600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9D9D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9D9D1"/>
                </a:solidFill>
                <a:latin typeface="Arial"/>
                <a:ea typeface="Arial"/>
                <a:cs typeface="Arial"/>
              </a:rPr>
              <a:t>Photos and product details become a structured listing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3A8837-77F1-4100-A918-B2B3C3CF2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28925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8F6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6B4E0A-C5FC-4DA1-AE67-A1521B0E6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95625"/>
            <a:ext cx="10668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B9FF6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61612A-0F80-489C-A498-62E392AA5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90875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211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11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35D802-45BE-461E-AE2C-AB719989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1146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Evaluate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62D1C-0011-424F-A443-CC23A627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133725"/>
            <a:ext cx="600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9D9D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9D9D1"/>
                </a:solidFill>
                <a:latin typeface="Arial"/>
                <a:ea typeface="Arial"/>
                <a:cs typeface="Arial"/>
              </a:rPr>
              <a:t>AI assistance, condition notes and fair-price context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AA963E-FBFF-4983-A259-4E973FB4C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495675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8F6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D50F89-CF4E-46AA-B6E8-9826AF19C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62375"/>
            <a:ext cx="10668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B9FF6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2288BC-AD94-4A07-8DC6-783A2EFA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57625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211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11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BCBD1D-4F5A-4B1B-A902-F90D5614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7814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8324A6-9BB0-4AE1-99FE-90E410CC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800475"/>
            <a:ext cx="600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9D9D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9D9D1"/>
                </a:solidFill>
                <a:latin typeface="Arial"/>
                <a:ea typeface="Arial"/>
                <a:cs typeface="Arial"/>
              </a:rPr>
              <a:t>Private negotiation with verified identity signals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BA3B81-D217-4723-8808-016D8B31F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62425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8F6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1341A4-93EA-4A60-B33B-9F48C107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29125"/>
            <a:ext cx="10668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B9FF6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812B97-D6D1-438A-B3D6-E74394577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24375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211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11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846F98-D7FA-4F73-9C97-C480A778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4481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583A81-93ED-486C-8598-D9851C5D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467225"/>
            <a:ext cx="600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9D9D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9D9D1"/>
                </a:solidFill>
                <a:latin typeface="Arial"/>
                <a:ea typeface="Arial"/>
                <a:cs typeface="Arial"/>
              </a:rPr>
              <a:t>Seller pickup and buyer destination create a route estimate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4345DD-5600-4826-BB47-D730E0D4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29175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8F67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0C15EC-159A-42BA-9215-69D2F8CB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95875"/>
            <a:ext cx="10668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B9FF66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BBD799-A16F-482B-8FB8-5B9C9DB7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91125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211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11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BAB02D-8752-419C-998A-7B03E158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1149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Complete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5FB3D7-40F7-4CF6-AB9B-F034BD895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133975"/>
            <a:ext cx="600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9D9D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9D9D1"/>
                </a:solidFill>
                <a:latin typeface="Arial"/>
                <a:ea typeface="Arial"/>
                <a:cs typeface="Arial"/>
              </a:rPr>
              <a:t>Evidence, QR/OTP handover and ledger record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DE358F-A04E-4780-8B79-304DB6462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53125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9FF6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9FF66"/>
                </a:solidFill>
                <a:latin typeface="Arial"/>
                <a:ea typeface="Arial"/>
                <a:cs typeface="Arial"/>
              </a:rPr>
              <a:t>One platform for discovery, confidence and accountable handover.</a:t>
            </a:r>
          </a:p>
        </p:txBody>
      </p:sp>
    </p:spTree>
    <p:extLst>
      <p:ext uri="{BB962C8B-B14F-4D97-AF65-F5344CB8AC3E}">
        <p14:creationId xmlns:p14="http://schemas.microsoft.com/office/powerpoint/2010/main" val="13714612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4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77CC5E-99A0-4C38-B3E2-B81E548D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A2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5A23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A7D9AC-1515-42BE-9667-66E101B0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The product is already built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643861-E2AD-4D63-A30D-8A079FA68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62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66C"/>
                </a:solidFill>
                <a:latin typeface="Arial"/>
                <a:ea typeface="Arial"/>
                <a:cs typeface="Arial"/>
              </a:rPr>
              <a:t>The live platform connects marketplace discovery to a secure deal room.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008E21-0801-416D-90A6-113E23A0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51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CA86D0-FAB1-4C3F-8F6E-52F01B3C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EcoMatch  |  Segue 3.0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9078FE-FC32-4A18-BE16-B32092F3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323850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DFF7E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DFBE5E-4392-48B9-9227-82B378A9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9E0969-E80F-40C7-ACA8-F151D8F0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19400"/>
            <a:ext cx="2619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Marketplace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712BEA-F751-4A1B-A264-1B355B56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66C"/>
                </a:solidFill>
                <a:latin typeface="Arial"/>
                <a:ea typeface="Arial"/>
                <a:cs typeface="Arial"/>
              </a:rPr>
              <a:t>Search reusable materials, filter by location and view seller signals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3ECEF5-294C-4194-B1DA-3B89F03C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62200"/>
            <a:ext cx="323850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18DCCE-87CC-484E-86EC-68F13335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527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EAD52B-D345-48CA-B508-144741B5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19400"/>
            <a:ext cx="2619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AI tools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048BA1-C349-466C-9F9E-F05132B1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2420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66C"/>
                </a:solidFill>
                <a:latin typeface="Arial"/>
                <a:ea typeface="Arial"/>
                <a:cs typeface="Arial"/>
              </a:rPr>
              <a:t>Classify materials and support clearer product information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831761-B7D6-4075-A0E3-135A16EB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62200"/>
            <a:ext cx="323850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FFE7B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AED1B2-7946-445E-8A4E-FCD4EE07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527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B05C9D-CB95-45DC-85D4-3BC07231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19400"/>
            <a:ext cx="2619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Deal room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FBEB97-B219-4B52-A78D-1A6D1A306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2420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66C"/>
                </a:solidFill>
                <a:latin typeface="Arial"/>
                <a:ea typeface="Arial"/>
                <a:cs typeface="Arial"/>
              </a:rPr>
              <a:t>Agree terms, chat privately and choose fulfilment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5C4E54-6E26-43C7-A7ED-8159C6F4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323850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DFF7E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6D337E-2B05-4003-A4C0-79310E24A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EF9D58-E847-4713-9BC8-90185EAC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38650"/>
            <a:ext cx="2619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Secure delivery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A648E3-8B29-442E-831B-D661CC68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4345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66C"/>
                </a:solidFill>
                <a:latin typeface="Arial"/>
                <a:ea typeface="Arial"/>
                <a:cs typeface="Arial"/>
              </a:rPr>
              <a:t>Route-based estimate, payment simulation, QR/OTP handover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A2CB54-B381-41BA-BE31-A1A8F061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981450"/>
            <a:ext cx="323850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C4BC4A-3697-4340-9764-6353029F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1719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426AE9-C4C2-4EE7-9CAA-0C75C021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38650"/>
            <a:ext cx="2619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Ledger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AC2C1B-9C5D-40C2-8A5A-30DC03EA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74345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66C"/>
                </a:solidFill>
                <a:latin typeface="Arial"/>
                <a:ea typeface="Arial"/>
                <a:cs typeface="Arial"/>
              </a:rPr>
              <a:t>Record completion and ownership transfer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9FA6F6-A70A-412D-A3FC-5830D2B5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81450"/>
            <a:ext cx="323850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FFE7BB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2FC0C5-53B2-4BB8-AC50-BD6CBD6C5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719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59332E-03C7-4D02-ACFF-E66C9143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38650"/>
            <a:ext cx="2619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Trust Center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4A6BCB-4804-48B6-BD62-FA847894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4345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66C"/>
                </a:solidFill>
                <a:latin typeface="Arial"/>
                <a:ea typeface="Arial"/>
                <a:cs typeface="Arial"/>
              </a:rPr>
              <a:t>Admin review for listings, delivery cases and disputes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05D5BF-9B31-43E2-B08D-C2837050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583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1583D"/>
                </a:solidFill>
                <a:latin typeface="Arial"/>
                <a:ea typeface="Arial"/>
                <a:cs typeface="Arial"/>
              </a:rPr>
              <a:t>Live demo: eco-match-sepia.vercel.app</a:t>
            </a:r>
          </a:p>
        </p:txBody>
      </p:sp>
    </p:spTree>
    <p:extLst>
      <p:ext uri="{BB962C8B-B14F-4D97-AF65-F5344CB8AC3E}">
        <p14:creationId xmlns:p14="http://schemas.microsoft.com/office/powerpoint/2010/main" val="423135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21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416401-0EEE-41FB-936F-9EA5D5F12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A2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5A23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021FAA-E217-40A4-B1ED-5B784D17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Delivery planning protects the buyer from a fake quote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689EA7-8A20-4365-A826-C0F7EB511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62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BB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BBF"/>
                </a:solidFill>
                <a:latin typeface="Arial"/>
                <a:ea typeface="Arial"/>
                <a:cs typeface="Arial"/>
              </a:rPr>
              <a:t>The platform calculates the route from the seller’s saved pickup pin to the buyer’s selected destination.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D877B2-2775-427E-8C1A-A087A632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83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08FED1-68ED-47A0-AD18-DC257EEC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7A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FB7AA"/>
                </a:solidFill>
                <a:latin typeface="Arial"/>
                <a:ea typeface="Arial"/>
                <a:cs typeface="Arial"/>
              </a:rPr>
              <a:t>EcoMatch  |  Segue 3.0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262A86-1AAA-478C-9F97-86649B12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2095500" cy="1181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43A2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25F456-1F56-432C-A604-5619532E8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384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9FF6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9FF66"/>
                </a:solidFill>
                <a:latin typeface="Arial"/>
                <a:ea typeface="Arial"/>
                <a:cs typeface="Arial"/>
              </a:rPr>
              <a:t>Seller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4F99E6-2CBF-41AA-8E90-502F5A3C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004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Saved pickup location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Product price from deal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E0E3FE-BB3A-48C2-B645-EDD22A0BD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43250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F6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8DB694-1F10-4B4E-AC21-67814D40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71750"/>
            <a:ext cx="2095500" cy="1181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43A2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42D12C-35E4-489D-936A-E876D0BA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384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9FF6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9FF66"/>
                </a:solidFill>
                <a:latin typeface="Arial"/>
                <a:ea typeface="Arial"/>
                <a:cs typeface="Arial"/>
              </a:rPr>
              <a:t>EcoMatch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F75BEC-167F-45DB-AFC4-4FEB6290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2004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Road distance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Weight &amp; vehicle logic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19B275-C249-4C9D-B6B6-8A0A62B4C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43250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F6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37297F-9A88-4959-926C-F526A469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71750"/>
            <a:ext cx="2095500" cy="1181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43A2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FA388D-4900-4B1A-95CC-76DE9E7A2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8384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9FF6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9FF66"/>
                </a:solidFill>
                <a:latin typeface="Arial"/>
                <a:ea typeface="Arial"/>
                <a:cs typeface="Arial"/>
              </a:rPr>
              <a:t>Buyer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206B50-82C3-4807-9CA9-65C0D42B6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2004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Current location or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searched destination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509F69-482C-4BB6-AF22-FCFD5190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625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Estimated total = product price + delivery estimate + 10% delivery service fee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3D79F4-882D-463B-BE24-72229B1F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340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C9D9D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9D9D1"/>
                </a:solidFill>
                <a:latin typeface="Arial"/>
                <a:ea typeface="Arial"/>
                <a:cs typeface="Arial"/>
              </a:rPr>
              <a:t>Carrier booking and payment stay labelled as simulation until partner and gateway credentials are connected.</a:t>
            </a:r>
          </a:p>
        </p:txBody>
      </p:sp>
    </p:spTree>
    <p:extLst>
      <p:ext uri="{BB962C8B-B14F-4D97-AF65-F5344CB8AC3E}">
        <p14:creationId xmlns:p14="http://schemas.microsoft.com/office/powerpoint/2010/main" val="12048824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4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EB5F6D-6B7E-46EA-B102-C3DDC547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A2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5A23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099044-237A-4363-9A92-2435153C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Trust moves the exchange forward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BF8432-E22A-41F8-9ADB-D16384AE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62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66C"/>
                </a:solidFill>
                <a:latin typeface="Arial"/>
                <a:ea typeface="Arial"/>
                <a:cs typeface="Arial"/>
              </a:rPr>
              <a:t>EcoMatch separates the signals a buyer needs before agreeing to a handover.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8E7A9D-C8E3-47AC-AF5B-5D314C958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51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F85540-9714-4843-A98C-43584BCF5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EcoMatch  |  Segue 3.0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ADDDBC-DE43-4591-99DA-7DE24667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876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F6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42D43B-8B69-4A80-9E71-01B36124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43718B-229A-4853-BC94-F3B62948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Identity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DFBB4A-37D6-4E21-AD2E-834681E8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228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66C"/>
                </a:solidFill>
                <a:latin typeface="Arial"/>
                <a:ea typeface="Arial"/>
                <a:cs typeface="Arial"/>
              </a:rPr>
              <a:t>KYC status makes the counterparty visible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ABDFFC-5280-41E3-9844-EB98F957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95550"/>
            <a:ext cx="876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23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CB2AE5-C8C8-4D72-9917-74DD8B86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813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74C125-4796-4D07-979D-1F20D0E2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242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Listing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3A1D9C-F1C3-4A37-BC2F-C806B6C55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571875"/>
            <a:ext cx="228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66C"/>
                </a:solidFill>
                <a:latin typeface="Arial"/>
                <a:ea typeface="Arial"/>
                <a:cs typeface="Arial"/>
              </a:rPr>
              <a:t>Images, condition and admin review support listing quality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E19093-A3E0-487C-B19F-8D31F29F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495550"/>
            <a:ext cx="876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C6F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ED22B9-B106-402F-933C-330C24B94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7813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1AF871-0BFA-429F-BD42-97C4F647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Transaction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E07DF7-B82D-4471-B4C9-053CCE42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71875"/>
            <a:ext cx="228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66C"/>
                </a:solidFill>
                <a:latin typeface="Arial"/>
                <a:ea typeface="Arial"/>
                <a:cs typeface="Arial"/>
              </a:rPr>
              <a:t>Private deal terms and payment state create a shared record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B7614F-718C-425C-8987-83C2ACBE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95550"/>
            <a:ext cx="876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8AD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9E10AF-3E8D-4A5D-8394-6571F73D1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813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9D551A-A918-4D85-9456-BACAAA77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1242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Handover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AAB7B2-DF00-4E56-B94A-74FAAFAE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571875"/>
            <a:ext cx="228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66C"/>
                </a:solidFill>
                <a:latin typeface="Arial"/>
                <a:ea typeface="Arial"/>
                <a:cs typeface="Arial"/>
              </a:rPr>
              <a:t>Evidence plus a time-bound QR/OTP completes the physical exchange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0B5710-C9E4-461D-ACE0-27A12DA50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158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1583D"/>
                </a:solidFill>
                <a:latin typeface="Arial"/>
                <a:ea typeface="Arial"/>
                <a:cs typeface="Arial"/>
              </a:rPr>
              <a:t>The aim: make the transaction inspectable, accountable and easier to complete.</a:t>
            </a:r>
          </a:p>
        </p:txBody>
      </p:sp>
    </p:spTree>
    <p:extLst>
      <p:ext uri="{BB962C8B-B14F-4D97-AF65-F5344CB8AC3E}">
        <p14:creationId xmlns:p14="http://schemas.microsoft.com/office/powerpoint/2010/main" val="14282268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21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CB1B82-9244-489C-9337-27A5F621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A2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5A23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C7F068-550D-42CE-B362-959F53A1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Impact measurement begins with every completed exchange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959E10-C697-484C-8258-296A4CC4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62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BB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BBF"/>
                </a:solidFill>
                <a:latin typeface="Arial"/>
                <a:ea typeface="Arial"/>
                <a:cs typeface="Arial"/>
              </a:rPr>
              <a:t>We will report what moves through EcoMatch rather than make unverified impact claims.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1212F2-949C-4EFA-8435-B530A0A1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83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661E7D-EDD4-4F8B-8813-24C5229A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7A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FB7AA"/>
                </a:solidFill>
                <a:latin typeface="Arial"/>
                <a:ea typeface="Arial"/>
                <a:cs typeface="Arial"/>
              </a:rPr>
              <a:t>EcoMatch  |  Segue 3.0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DFB59A-F12F-4F22-8C04-86B2E81F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476250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143A2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678172-B18D-4A9A-8B2A-615161C1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619375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9FF6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9FF66"/>
                </a:solidFill>
                <a:latin typeface="Arial"/>
                <a:ea typeface="Arial"/>
                <a:cs typeface="Arial"/>
              </a:rPr>
              <a:t>Assets reused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094996-A57F-4BAB-AD5F-8DB6CD93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9718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E8E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9E8E0"/>
                </a:solidFill>
                <a:latin typeface="Arial"/>
                <a:ea typeface="Arial"/>
                <a:cs typeface="Arial"/>
              </a:rPr>
              <a:t>Count of completed item or material exchanges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2CC314-CD26-44B7-A87C-B52BD8C8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81250"/>
            <a:ext cx="476250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143A2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A534AE-B24B-4C2C-B828-3B14E0BAB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619375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9FF6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9FF66"/>
                </a:solidFill>
                <a:latin typeface="Arial"/>
                <a:ea typeface="Arial"/>
                <a:cs typeface="Arial"/>
              </a:rPr>
              <a:t>Material diverted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5C78B1-C46C-4169-B856-3E3C4FD29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9718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E8E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9E8E0"/>
                </a:solidFill>
                <a:latin typeface="Arial"/>
                <a:ea typeface="Arial"/>
                <a:cs typeface="Arial"/>
              </a:rPr>
              <a:t>Seller-entered, verified weight category or confirmed weight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C90AF8-AC5B-4FE9-9B07-1808B502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476250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143A2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03F1E-3EC3-4D5A-88E3-4C92AE12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143375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9FF6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9FF66"/>
                </a:solidFill>
                <a:latin typeface="Arial"/>
                <a:ea typeface="Arial"/>
                <a:cs typeface="Arial"/>
              </a:rPr>
              <a:t>Local circulation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BDB77F-C2C5-4C60-B949-335E175C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4958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E8E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9E8E0"/>
                </a:solidFill>
                <a:latin typeface="Arial"/>
                <a:ea typeface="Arial"/>
                <a:cs typeface="Arial"/>
              </a:rPr>
              <a:t>Route distance and buyer/seller locality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CF7BA2-0C53-416C-A1F9-E534B4F7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476250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143A2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D025EC-D8BD-45DE-8FCC-E3F299911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143375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9FF6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9FF66"/>
                </a:solidFill>
                <a:latin typeface="Arial"/>
                <a:ea typeface="Arial"/>
                <a:cs typeface="Arial"/>
              </a:rPr>
              <a:t>Trust quality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4E8B80-B385-4625-A046-0308FF3A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4958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E8E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9E8E0"/>
                </a:solidFill>
                <a:latin typeface="Arial"/>
                <a:ea typeface="Arial"/>
                <a:cs typeface="Arial"/>
              </a:rPr>
              <a:t>Verified listings, completed handovers and dispute resolution time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72ADDD-94B8-4601-96BC-D7681B0A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FF7E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FF7E7"/>
                </a:solidFill>
                <a:latin typeface="Arial"/>
                <a:ea typeface="Arial"/>
                <a:cs typeface="Arial"/>
              </a:rPr>
              <a:t>Pilot goal: establish a credible baseline before publishing environmental savings.</a:t>
            </a:r>
          </a:p>
        </p:txBody>
      </p:sp>
    </p:spTree>
    <p:extLst>
      <p:ext uri="{BB962C8B-B14F-4D97-AF65-F5344CB8AC3E}">
        <p14:creationId xmlns:p14="http://schemas.microsoft.com/office/powerpoint/2010/main" val="157267599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4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81EBAC-5B91-48DA-88C0-FF38B3C8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A2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5A23A"/>
                </a:solidFill>
                <a:latin typeface="Arial"/>
                <a:ea typeface="Arial"/>
                <a:cs typeface="Arial"/>
              </a:rPr>
              <a:t>010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F0F61F-0AC2-49AF-8341-637DFE28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A practical path to city-scale reuse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D2563D-E671-48C7-8170-0FEDBC322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62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66C"/>
                </a:solidFill>
                <a:latin typeface="Arial"/>
                <a:ea typeface="Arial"/>
                <a:cs typeface="Arial"/>
              </a:rPr>
              <a:t>Start with dense supply, learn from exchanges, then connect institutions and logistics.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C234CC-1BFB-410D-87AC-ACC752C0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51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AD635D-02FF-4027-A6A4-4ABB572F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EcoMatch  |  Segue 3.0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D3410E-DFBE-448F-8733-4E058C35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14625"/>
            <a:ext cx="304800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DFF7E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E7E83E-567B-4317-9DF4-9A905FA9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718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PHASE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FA7227-8A62-4BD2-AE0E-05360CDB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337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Pilot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C1464C-3376-4FB6-9722-C5E30EEE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19525"/>
            <a:ext cx="247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66C"/>
                </a:solidFill>
                <a:latin typeface="Arial"/>
                <a:ea typeface="Arial"/>
                <a:cs typeface="Arial"/>
              </a:rPr>
              <a:t>Work with campuses, offices and local recyclers. Validate listing quality and successful handovers.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463FDD-308F-4865-A88D-2C31A4435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14625"/>
            <a:ext cx="304800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FF6618-8308-4C8F-830C-209DD0D9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9718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PHASE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704CA3-1F0E-470F-8F58-EF2E9EC3E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3337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Network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8883E2-5CD7-4E06-B2ED-0CC5FEC9A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819525"/>
            <a:ext cx="247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66C"/>
                </a:solidFill>
                <a:latin typeface="Arial"/>
                <a:ea typeface="Arial"/>
                <a:cs typeface="Arial"/>
              </a:rPr>
              <a:t>Build repeat buyer-seller communities around material streams and local areas.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B30A42-D009-4552-A3AD-C14433DC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14625"/>
            <a:ext cx="304800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E7B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2A1774-21E3-477C-A6D1-ECD624F5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718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PHASE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36D94E-A3DE-479A-B897-70BE67B2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337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Institutional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EF287E-4AA7-4F9B-9F04-404C257B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19525"/>
            <a:ext cx="247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66C"/>
                </a:solidFill>
                <a:latin typeface="Arial"/>
                <a:ea typeface="Arial"/>
                <a:cs typeface="Arial"/>
              </a:rPr>
              <a:t>Offer reporting, controlled workflows and reuse insights to organizations and city partners.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8D0BFB-A94A-4617-B42F-36A11C5E8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8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1583D"/>
                </a:solidFill>
                <a:latin typeface="Arial"/>
                <a:ea typeface="Arial"/>
                <a:cs typeface="Arial"/>
              </a:rPr>
              <a:t>Revenue can come from transaction services and institutional workflow tools after the pilot proves exchange quality.</a:t>
            </a:r>
          </a:p>
        </p:txBody>
      </p:sp>
    </p:spTree>
    <p:extLst>
      <p:ext uri="{BB962C8B-B14F-4D97-AF65-F5344CB8AC3E}">
        <p14:creationId xmlns:p14="http://schemas.microsoft.com/office/powerpoint/2010/main" val="2254904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21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B4981A-AB51-4198-8BA2-A5D3A4D3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620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FF6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9FF66"/>
                </a:solidFill>
                <a:latin typeface="Arial"/>
                <a:ea typeface="Arial"/>
                <a:cs typeface="Arial"/>
              </a:rPr>
              <a:t>THE ASK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DF6C8C-2311-4E81-A091-9E820466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33500"/>
            <a:ext cx="7334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Help us make reuse</a:t>
            </a:r>
          </a:p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visible, trusted and</a:t>
            </a:r>
          </a:p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worth choosing.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6AF567-2C25-4CD9-8258-B532F5CB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6524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7E7D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7E7DF"/>
                </a:solidFill>
                <a:latin typeface="Arial"/>
                <a:ea typeface="Arial"/>
                <a:cs typeface="Arial"/>
              </a:rPr>
              <a:t>Explore the live platform. Challenge the workflow. Help EcoMatch learn from real exchanges.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7E79DC-E62C-4D6F-A25B-B6BECFB5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0"/>
            <a:ext cx="1905000" cy="1905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B9FF6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A7AF65-439C-437E-9DE8-1318FCC2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1333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211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2118"/>
                </a:solidFill>
                <a:latin typeface="Arial"/>
                <a:ea typeface="Arial"/>
                <a:cs typeface="Arial"/>
              </a:rPr>
              <a:t>LIVE</a:t>
            </a:r>
          </a:p>
          <a:p xmlns:a="http://schemas.openxmlformats.org/drawingml/2006/main">
            <a:pPr algn="ctr">
              <a:defRPr sz="2100" b="1">
                <a:solidFill>
                  <a:srgbClr val="0B211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2118"/>
                </a:solidFill>
                <a:latin typeface="Arial"/>
                <a:ea typeface="Arial"/>
                <a:cs typeface="Arial"/>
              </a:rPr>
              <a:t>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5742C0-A87C-4DEF-85EB-C076973E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00500"/>
            <a:ext cx="319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9FF6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9FF66"/>
                </a:solidFill>
                <a:latin typeface="Arial"/>
                <a:ea typeface="Arial"/>
                <a:cs typeface="Arial"/>
              </a:rPr>
              <a:t>eco-match-sepia.vercel.app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D847E8-A98B-456B-813A-4141B14E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7217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C0B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AC0B3"/>
                </a:solidFill>
                <a:latin typeface="Arial"/>
                <a:ea typeface="Arial"/>
                <a:cs typeface="Arial"/>
              </a:rPr>
              <a:t>EcoMatch  |  Segue 3.0 Finale</a:t>
            </a:r>
          </a:p>
        </p:txBody>
      </p:sp>
    </p:spTree>
    <p:extLst>
      <p:ext uri="{BB962C8B-B14F-4D97-AF65-F5344CB8AC3E}">
        <p14:creationId xmlns:p14="http://schemas.microsoft.com/office/powerpoint/2010/main" val="15284557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2026-09-29T10:23:36.8250000Z</dcterms:created>
  <dcterms:modified xsi:type="dcterms:W3CDTF">2026-09-29T10:23:36.8260000Z</dcterms:modified>
</coreProperties>
</file>