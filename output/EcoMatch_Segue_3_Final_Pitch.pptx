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797735a99647a3" /><Relationship Type="http://schemas.openxmlformats.org/officeDocument/2006/relationships/extended-properties" Target="/docProps/app.xml" Id="Rea333bef3d794c6f" /><Relationship Type="http://schemas.openxmlformats.org/officeDocument/2006/relationships/officeDocument" Target="/ppt/presentation.xml" Id="Rdbe384a20cd040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3ff573bbbc4a48"/>
  </p:sldMasterIdLst>
  <p:notesMasterIdLst>
    <p:notesMasterId xmlns:r="http://schemas.openxmlformats.org/officeDocument/2006/relationships" r:id="Re866d11694234f09"/>
  </p:notesMasterIdLst>
  <p:sldIdLst>
    <p:sldId xmlns:r="http://schemas.openxmlformats.org/officeDocument/2006/relationships" id="256" r:id="R1f55b8c622df42c8"/>
    <p:sldId xmlns:r="http://schemas.openxmlformats.org/officeDocument/2006/relationships" id="257" r:id="Ra6a35a2a88114126"/>
    <p:sldId xmlns:r="http://schemas.openxmlformats.org/officeDocument/2006/relationships" id="258" r:id="R550ea409dcbf4f0a"/>
    <p:sldId xmlns:r="http://schemas.openxmlformats.org/officeDocument/2006/relationships" id="259" r:id="Rb8d353996ed44591"/>
    <p:sldId xmlns:r="http://schemas.openxmlformats.org/officeDocument/2006/relationships" id="260" r:id="R94db6c14d9014087"/>
    <p:sldId xmlns:r="http://schemas.openxmlformats.org/officeDocument/2006/relationships" id="261" r:id="R4a4dce03bb3f425f"/>
    <p:sldId xmlns:r="http://schemas.openxmlformats.org/officeDocument/2006/relationships" id="262" r:id="R51f6c1d4479e4f9e"/>
    <p:sldId xmlns:r="http://schemas.openxmlformats.org/officeDocument/2006/relationships" id="263" r:id="R45387598a9a64537"/>
    <p:sldId xmlns:r="http://schemas.openxmlformats.org/officeDocument/2006/relationships" id="264" r:id="Ra72e9968668c44c8"/>
    <p:sldId xmlns:r="http://schemas.openxmlformats.org/officeDocument/2006/relationships" id="265" r:id="Rbccdf73a0dde4d81"/>
    <p:sldId xmlns:r="http://schemas.openxmlformats.org/officeDocument/2006/relationships" id="266" r:id="R8af0675fda0541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ed97a023c94ac1" /><Relationship Type="http://schemas.openxmlformats.org/officeDocument/2006/relationships/slideMaster" Target="/ppt/slideMasters/slideMaster1.xml" Id="R493ff573bbbc4a48" /><Relationship Type="http://schemas.openxmlformats.org/officeDocument/2006/relationships/notesMaster" Target="/ppt/notesMasters/notesMaster1.xml" Id="Re866d11694234f09" /><Relationship Type="http://schemas.openxmlformats.org/officeDocument/2006/relationships/presProps" Target="/ppt/presProps.xml" Id="R615d0bfe15044f87" /><Relationship Type="http://schemas.openxmlformats.org/officeDocument/2006/relationships/tableStyles" Target="/ppt/tableStyles.xml" Id="R8c7634b4441f4d7f" /><Relationship Type="http://schemas.openxmlformats.org/officeDocument/2006/relationships/slide" Target="/ppt/slides/slide1.xml" Id="R1f55b8c622df42c8" /><Relationship Type="http://schemas.openxmlformats.org/officeDocument/2006/relationships/slide" Target="/ppt/slides/slide2.xml" Id="Ra6a35a2a88114126" /><Relationship Type="http://schemas.openxmlformats.org/officeDocument/2006/relationships/slide" Target="/ppt/slides/slide3.xml" Id="R550ea409dcbf4f0a" /><Relationship Type="http://schemas.openxmlformats.org/officeDocument/2006/relationships/slide" Target="/ppt/slides/slide4.xml" Id="Rb8d353996ed44591" /><Relationship Type="http://schemas.openxmlformats.org/officeDocument/2006/relationships/slide" Target="/ppt/slides/slide5.xml" Id="R94db6c14d9014087" /><Relationship Type="http://schemas.openxmlformats.org/officeDocument/2006/relationships/slide" Target="/ppt/slides/slide6.xml" Id="R4a4dce03bb3f425f" /><Relationship Type="http://schemas.openxmlformats.org/officeDocument/2006/relationships/slide" Target="/ppt/slides/slide7.xml" Id="R51f6c1d4479e4f9e" /><Relationship Type="http://schemas.openxmlformats.org/officeDocument/2006/relationships/slide" Target="/ppt/slides/slide8.xml" Id="R45387598a9a64537" /><Relationship Type="http://schemas.openxmlformats.org/officeDocument/2006/relationships/slide" Target="/ppt/slides/slide9.xml" Id="Ra72e9968668c44c8" /><Relationship Type="http://schemas.openxmlformats.org/officeDocument/2006/relationships/slide" Target="/ppt/slides/slide10.xml" Id="Rbccdf73a0dde4d81" /><Relationship Type="http://schemas.openxmlformats.org/officeDocument/2006/relationships/slide" Target="/ppt/slides/slide11.xml" Id="R8af0675fda0541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f4bea0ffc842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2c827bc7914336" /><Relationship Type="http://schemas.openxmlformats.org/officeDocument/2006/relationships/notesMaster" Target="/ppt/notesMasters/notesMaster1.xml" Id="Rff0c9219ec354e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9e31efd2ca4230" /><Relationship Type="http://schemas.openxmlformats.org/officeDocument/2006/relationships/notesMaster" Target="/ppt/notesMasters/notesMaster1.xml" Id="Rabd1349825ea44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c3200402f5456f" /><Relationship Type="http://schemas.openxmlformats.org/officeDocument/2006/relationships/notesMaster" Target="/ppt/notesMasters/notesMaster1.xml" Id="R89600b464e0643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f5560325e84cfb" /><Relationship Type="http://schemas.openxmlformats.org/officeDocument/2006/relationships/notesMaster" Target="/ppt/notesMasters/notesMaster1.xml" Id="R3c9f6e98fcdc4c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5b868f98ce499d" /><Relationship Type="http://schemas.openxmlformats.org/officeDocument/2006/relationships/notesMaster" Target="/ppt/notesMasters/notesMaster1.xml" Id="R903a083935c44a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61df07c7654944" /><Relationship Type="http://schemas.openxmlformats.org/officeDocument/2006/relationships/notesMaster" Target="/ppt/notesMasters/notesMaster1.xml" Id="Rc11f18d968c840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27aacdda73420d" /><Relationship Type="http://schemas.openxmlformats.org/officeDocument/2006/relationships/notesMaster" Target="/ppt/notesMasters/notesMaster1.xml" Id="Rfb8536a2a40a44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1f0f682d95424d" /><Relationship Type="http://schemas.openxmlformats.org/officeDocument/2006/relationships/notesMaster" Target="/ppt/notesMasters/notesMaster1.xml" Id="R4f0a0b4b1d2f45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0f33dda4af486d" /><Relationship Type="http://schemas.openxmlformats.org/officeDocument/2006/relationships/notesMaster" Target="/ppt/notesMasters/notesMaster1.xml" Id="R8c46820daaae43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7907b1a1604747" /><Relationship Type="http://schemas.openxmlformats.org/officeDocument/2006/relationships/notesMaster" Target="/ppt/notesMasters/notesMaster1.xml" Id="R1fb9959a949f46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25310121074824" /><Relationship Type="http://schemas.openxmlformats.org/officeDocument/2006/relationships/notesMaster" Target="/ppt/notesMasters/notesMaster1.xml" Id="R7addd7609e0445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EcoMatch helps cities recover value before usable material becomes waste. Show the live product after the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framing. No local waste statistic is claimed without a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https://sdgs.un.org/goals/goal11. Target 11.6 wording. EcoMatch contribution is an intended pathway, not a measured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problem model based on product design observation. No customer validation count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EcoMatch workflow. Demo it live after slide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proof based on deployed EcoMatch application. Live URL: https://eco-match-sepia.vercel.app/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Integrity controls: browser does not choose pickup, product price or distance. Real carrier booking and payment are not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call every user verified. The platform displays distinct identity, listing and handover signals.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impact measures are proposed product metrics. No environmental savings figures are claimed until measurement methodology and pilot data are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is a plan, not a forecast. Avoid revenue claims until pilot metrics and pricing validation are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ask: invite judges to open the deployed app. End, then switch to the live product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650d8efe6247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8fadbdddcd4c1c" /><Relationship Type="http://schemas.openxmlformats.org/officeDocument/2006/relationships/slideLayout" Target="/ppt/slideLayouts/slideLayout1.xml" Id="Ra78bf95f708b4a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8bf95f708b4a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d68b25118460c" /><Relationship Type="http://schemas.openxmlformats.org/officeDocument/2006/relationships/notesSlide" Target="/ppt/notesSlides/notesSlide1.xml" Id="R708fbc60f87b4d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2fcf931c1455c" /><Relationship Type="http://schemas.openxmlformats.org/officeDocument/2006/relationships/notesSlide" Target="/ppt/notesSlides/notesSlide2.xml" Id="R9876250a6d2a45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cd06de7494d7e" /><Relationship Type="http://schemas.openxmlformats.org/officeDocument/2006/relationships/notesSlide" Target="/ppt/notesSlides/notesSlide3.xml" Id="Ra6684a89ef264d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930ce29904623" /><Relationship Type="http://schemas.openxmlformats.org/officeDocument/2006/relationships/notesSlide" Target="/ppt/notesSlides/notesSlide4.xml" Id="R3e89e3d844a84f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bdd178be04b3b" /><Relationship Type="http://schemas.openxmlformats.org/officeDocument/2006/relationships/notesSlide" Target="/ppt/notesSlides/notesSlide5.xml" Id="Raa3c5412e07f4f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433788c7042d7" /><Relationship Type="http://schemas.openxmlformats.org/officeDocument/2006/relationships/notesSlide" Target="/ppt/notesSlides/notesSlide6.xml" Id="R6519bd7ab03d40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7cf65f38b4617" /><Relationship Type="http://schemas.openxmlformats.org/officeDocument/2006/relationships/notesSlide" Target="/ppt/notesSlides/notesSlide7.xml" Id="R187b90adf3d943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eaeeeb26d48de" /><Relationship Type="http://schemas.openxmlformats.org/officeDocument/2006/relationships/notesSlide" Target="/ppt/notesSlides/notesSlide8.xml" Id="R0154c745c91745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9d202406d4a01" /><Relationship Type="http://schemas.openxmlformats.org/officeDocument/2006/relationships/notesSlide" Target="/ppt/notesSlides/notesSlide9.xml" Id="R1e59a99ffa5244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6591b24fc44f5" /><Relationship Type="http://schemas.openxmlformats.org/officeDocument/2006/relationships/notesSlide" Target="/ppt/notesSlides/notesSlide10.xml" Id="R3c628d25e6d340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e1ba86fa7433f" /><Relationship Type="http://schemas.openxmlformats.org/officeDocument/2006/relationships/notesSlide" Target="/ppt/notesSlides/notesSlide11.xml" Id="R3fd4d368e08a48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BC0DD-C170-4F4B-85F4-3D3B1D98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857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3DED1-DC81-4200-A5D9-74FAFEAC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4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ECOMATCH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0C6A4-DC80-4DFB-9F8C-C68EEA04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81125"/>
            <a:ext cx="7239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circular marketplace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cleaner, more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resourceful cities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042F5-A145-41B5-AA55-E35E7077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14800"/>
            <a:ext cx="609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7D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7E7DF"/>
                </a:solidFill>
                <a:latin typeface="Arial"/>
                <a:ea typeface="Arial"/>
                <a:cs typeface="Arial"/>
              </a:rPr>
              <a:t>Giving usable materials, equipment and industrial surplus a trusted second life.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51CBE-3D33-4993-9F97-54AB14B2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33500"/>
            <a:ext cx="24765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C0C8F-7EB4-45FE-AD67-9E1F07D3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09750"/>
            <a:ext cx="161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C7A9B-408D-49AC-AF22-F35856CF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4800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Sustainable Cities</a:t>
            </a:r>
          </a:p>
          <a:p xmlns:a="http://schemas.openxmlformats.org/drawingml/2006/main">
            <a:pPr algn="ctr">
              <a:defRPr sz="1275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and Communities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E5B93-AB77-4C4B-A2FD-6966E705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150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BB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BBF"/>
                </a:solidFill>
                <a:latin typeface="Arial"/>
                <a:ea typeface="Arial"/>
                <a:cs typeface="Arial"/>
              </a:rPr>
              <a:t>Segue 3.0 Finale  |  Team EcoMatch</a:t>
            </a:r>
          </a:p>
          <a:p xmlns:a="http://schemas.openxmlformats.org/drawingml/2006/main">
            <a:pPr algn="l">
              <a:defRPr sz="1125" b="0">
                <a:solidFill>
                  <a:srgbClr val="B8CBB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8CBBF"/>
                </a:solidFill>
                <a:latin typeface="Arial"/>
                <a:ea typeface="Arial"/>
                <a:cs typeface="Arial"/>
              </a:rPr>
              <a:t>Janit Kumar Hind · Krish Tiwari · Jeetu Yadav · Khushboo Sharma · Khushi Kumari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4ADD3-076C-45DD-B08A-AD09E65F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7531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Live product</a:t>
            </a:r>
          </a:p>
          <a:p xmlns:a="http://schemas.openxmlformats.org/drawingml/2006/main">
            <a:pPr algn="r">
              <a:defRPr sz="9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eco-match-sepia.vercel.app</a:t>
            </a:r>
          </a:p>
        </p:txBody>
      </p:sp>
    </p:spTree>
    <p:extLst>
      <p:ext uri="{BB962C8B-B14F-4D97-AF65-F5344CB8AC3E}">
        <p14:creationId xmlns:p14="http://schemas.microsoft.com/office/powerpoint/2010/main" val="20771014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A656E3-080C-468D-9F91-731177FD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6587E-039F-41C0-89E4-619D8E5A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The urban surplus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64D43-4183-4183-BB89-5621FC2F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Usable assets are difficult to discover, verify and move before they become waste.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D1D62-4D76-4799-9F59-FE2636FB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69EED-AB7E-4506-AFF2-DDA5A95A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D2EBE-8759-40DA-A698-42376B7A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A city already has the material it needs.</a:t>
            </a:r>
          </a:p>
          <a:p xmlns:a="http://schemas.openxmlformats.org/drawingml/2006/main">
            <a:pPr algn="l">
              <a:defRPr sz="2625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It is simply locked inside offices, warehouses and institutions.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B77E8-8B7D-486D-9DC8-2FF67DD3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47900"/>
            <a:ext cx="419100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670E8-3B92-4771-A798-570E4E1E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52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What happens today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E18D1-9B1C-4401-B9C1-BCC15605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48000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82594-9AF9-40D2-9BC0-C61CF343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2420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A565B-04A0-4FD1-A01B-5C5B6EA3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575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A seller has usable surplus but no trusted buyer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93026-0160-4F00-B9C4-5E2BEDE8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658A3-3CEF-4F18-A7E7-A0136167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1475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E14C46-6140-4D2A-8015-4A429B96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480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A buyer cannot assess condition, location or fair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06177-9F0C-49B4-8E94-52C257A6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29100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1CC7BC-9288-4C1B-835E-DF803C5E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0530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FAABA-1C70-47BF-B9E1-DC3FF147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38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Transport and handover feel risky, so reuse stalls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8C1995-6E1B-4E5C-BA37-4DCC6EFF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83D"/>
                </a:solidFill>
                <a:latin typeface="Arial"/>
                <a:ea typeface="Arial"/>
                <a:cs typeface="Arial"/>
              </a:rPr>
              <a:t>Result: material loses value, disposal pressure grows and cities miss a local reuse opportunity.</a:t>
            </a:r>
          </a:p>
        </p:txBody>
      </p:sp>
    </p:spTree>
    <p:extLst>
      <p:ext uri="{BB962C8B-B14F-4D97-AF65-F5344CB8AC3E}">
        <p14:creationId xmlns:p14="http://schemas.microsoft.com/office/powerpoint/2010/main" val="12482248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90112-F59E-445B-BF36-25A084CA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53218-F524-4E7D-8812-DECE3A7D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Why SDG 11.6 is our anchor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F16DD-2264-4907-A91E-551DCE33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supports cleaner city resource flows through reuse before disposal.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11A41-7C8B-42C4-AB51-FB4622E1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716C9-6E27-4517-A512-66332B37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8F451-7E67-457F-A40D-25EF0630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781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“Reduce the adverse per capita environmental impact of cities … paying special attention to air quality and municipal and other waste management.”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D170B-E09E-4E30-90D4-BF05458D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188595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5A23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4C3544-ED0C-451E-8EDE-24CA5CD6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11.6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C1EBF-D108-41DF-B8FB-A356646C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4700"/>
            <a:ext cx="1457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Waste management</a:t>
            </a:r>
          </a:p>
          <a:p xmlns:a="http://schemas.openxmlformats.org/drawingml/2006/main">
            <a:pPr algn="ctr">
              <a:defRPr sz="1125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&amp; city impact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84814-623E-4E38-AAB9-E531A8DA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8239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FF7E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FF7E7"/>
                </a:solidFill>
                <a:latin typeface="Arial"/>
                <a:ea typeface="Arial"/>
                <a:cs typeface="Arial"/>
              </a:rPr>
              <a:t>EcoMatch acts upstream: it makes reuse a practical option before a usable item reaches the waste stream.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7B7C2-DE75-48AF-8A41-38FD59C3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67425"/>
            <a:ext cx="6858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C0B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AC0B3"/>
                </a:solidFill>
                <a:latin typeface="Arial"/>
                <a:ea typeface="Arial"/>
                <a:cs typeface="Arial"/>
              </a:rPr>
              <a:t>Source: United Nations Sustainable Development Goal 11, Target 11.6</a:t>
            </a:r>
          </a:p>
        </p:txBody>
      </p:sp>
    </p:spTree>
    <p:extLst>
      <p:ext uri="{BB962C8B-B14F-4D97-AF65-F5344CB8AC3E}">
        <p14:creationId xmlns:p14="http://schemas.microsoft.com/office/powerpoint/2010/main" val="4461154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854CA2-FA24-45BC-AC48-78FE7633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8B772-E1D6-43BF-9B8F-C7973053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Three users, one broken exchange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C0030-7F65-4E91-B31E-0712D3F1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Each stakeholder sees the same surplus through a different risk.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2E472-64FC-4858-884A-AEC9E62B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C04B0-5FD5-49A9-9763-EFEE66E3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454A8-1B95-4A9F-8BB8-E8808103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143250" cy="2238375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DFF7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E0024-2772-4D2C-8F82-6D006942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Material 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3CEE4-4E24-4A55-AB8D-B046EEA8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2619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“I want to recover value, but I need a serious buyer and safe pickup.”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E770F-BD96-4311-9A59-8188D4A0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F7E0E-3741-421D-87CA-CFDBED10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3143250" cy="2238375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6DB48-30DB-4C8B-83FB-9A2CFCB8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Buyer / recycler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1B07F-DA47-4217-9B7B-C59C9F46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09950"/>
            <a:ext cx="2619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“I need condition, price and location clarity before committing.”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0BE54-090C-48ED-8F6D-A90072CE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005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8D544-0DB3-4852-860A-C270F11D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3143250" cy="2238375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FFE7B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E018A-0E29-4924-95DF-E0C67171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95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City ecosystem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CA726-F280-425D-96DD-DBF64CDE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09950"/>
            <a:ext cx="2619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8251A"/>
                </a:solidFill>
                <a:latin typeface="Arial"/>
                <a:ea typeface="Arial"/>
                <a:cs typeface="Arial"/>
              </a:rPr>
              <a:t>“More assets should circulate locally before they become disposal work.”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87682A-7B33-45BD-A0BD-07D26284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005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42CD21-373D-4457-BD94-2D167CC8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8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583D"/>
                </a:solidFill>
                <a:latin typeface="Arial"/>
                <a:ea typeface="Arial"/>
                <a:cs typeface="Arial"/>
              </a:rPr>
              <a:t>EcoMatch gives each side the information and protocol needed to progress to a safe exchange.</a:t>
            </a:r>
          </a:p>
        </p:txBody>
      </p:sp>
    </p:spTree>
    <p:extLst>
      <p:ext uri="{BB962C8B-B14F-4D97-AF65-F5344CB8AC3E}">
        <p14:creationId xmlns:p14="http://schemas.microsoft.com/office/powerpoint/2010/main" val="1675754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ABE620-3A6E-4BB3-A2EC-4E51C2AF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CD686-595F-4062-9B62-561486F2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EcoMatch makes reuse tradeable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CE752-AA18-491A-A9A7-0E5BDB3C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A verified workflow turns a scattered exchange into a guided transaction.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41872-FC54-4FEC-AF0B-F1355BEB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5789D-3779-4D0D-9D0A-D88940F0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B716D-BCAA-4848-8D1C-F7424B2E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10668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90A23-3641-467C-86DE-BE70D947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241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68A38-E10D-41DC-AD96-ECE0C368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479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25494-38BE-45D4-A5CB-0711887A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66975"/>
            <a:ext cx="600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Photos and product details become a structured listing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EA28E-F2F7-4E2A-AA94-9B9B1996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28925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F6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95324-8058-404C-AA35-421D7229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10668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7004E-A2E7-4CB5-95F7-4D9BDF3A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9087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7F9CF-9BC2-479C-B5A8-7450D7F1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146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354D52-BA99-4919-8C57-AAA91637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33725"/>
            <a:ext cx="600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AI assistance, condition notes and fair-price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8B108-3F9C-462E-BFD2-0E63EFCD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95675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F6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8416E-3D16-4CF0-A53F-E932822B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10668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0CBDEB-4FD6-4B10-87E0-74DF0954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BB57F3-D5AA-49ED-8E94-20DE7083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814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BE399-1A8C-41BC-8D1A-613E419E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00475"/>
            <a:ext cx="600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Private negotiation with verified identity signals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55E258-C13F-4EA5-AF85-E76A0355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62425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F6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A9C1B4-2EA6-45F9-9D50-14AB7F4E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10668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B5A870-DE76-4FE6-8A07-1B52A70C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2437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012ECE-794D-4CB4-A49F-577707D3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481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FFC6EF-592F-4281-8A75-C69088A6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67225"/>
            <a:ext cx="600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Seller pickup and buyer destination create a route estimate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87235D-F2F3-40B5-A301-621EB17D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29175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F6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544B39-1F4B-4342-A89E-9FE3FF46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10668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974BA4-146F-4BFE-90BF-0CEAB43C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911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F91AF0-04B4-4A2E-AB31-AFD56B3B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149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96C5C8-97E2-452A-A4BA-EE95C383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133975"/>
            <a:ext cx="600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Evidence, QR/OTP handover and ledger record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79451D-8B2B-413E-BE96-13E331AA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One platform for discovery, confidence and accountable handover.</a:t>
            </a:r>
          </a:p>
        </p:txBody>
      </p:sp>
    </p:spTree>
    <p:extLst>
      <p:ext uri="{BB962C8B-B14F-4D97-AF65-F5344CB8AC3E}">
        <p14:creationId xmlns:p14="http://schemas.microsoft.com/office/powerpoint/2010/main" val="18439336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6E2707-2642-4846-AF6F-A4A1AE07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DF92E-B0B4-4326-9DE7-14C142C8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The product is already built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13B92-E3C8-44EE-8027-8018D371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The live platform connects marketplace discovery to a secure deal room.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3B58F-8943-46B3-B861-66A8D3BD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89B6A-F853-4131-A937-6C16F77C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F05B9-8D2C-433E-BAA2-40555119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FF7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70A3A-252E-4F22-A28C-B3A20FCD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20282-8B9C-4058-BFDE-B516DE79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Marketplace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6FD98-F0CC-4A5B-98F9-33981C17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Search reusable materials, filter by location and view seller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7A2E7-0E4F-4607-B7A4-383A4647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6220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465EA-1A60-4D9B-9318-AB976093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57754-E33A-4A16-A8F9-45126C40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1940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AI tools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CA259-CCB5-42A9-98A2-32F2B70E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242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Classify materials and support clearer product information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8DDF3-127D-4105-B499-800900C8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E7B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30296-CC06-46F1-94D1-06A3A910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4F16C-16C1-4EA8-B05C-CDA79DFD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1940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Deal room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D41CC3-11BA-4F7A-BC10-AEAB5375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2420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Agree terms, chat privately and choose fulfilment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0EC68-A997-4E9D-B210-30763581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FF7E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8AE40-00A4-4E89-9BC7-91CCE94D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C68992-2BC8-46E3-A669-800CE626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Secure delivery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5078A9-4BD5-4881-9AB3-BD4D4FD1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Route-based estimate, payment simulation, QR/OTP handover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38A392-B68A-47B4-BFB8-79162C90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8145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1255F9-FF60-4833-852F-80D4A78B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71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5D80EB-F52B-4172-A567-486F01C9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Ledger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0D9B0B-3D31-4F50-A9EF-B55A8E47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434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Record completion and ownership transfer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1515DA-82A9-4918-8F22-AB974372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3238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E7B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0A2BD2-D5F3-466E-9081-E5552B3F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719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D48DA0-7DA3-465B-9F40-71C4C3E8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38650"/>
            <a:ext cx="2619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Trust Center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C413AC-ECCD-42DC-ACD0-BA813B8B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43450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Admin review for listings, delivery cases and disputes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40AE50-970C-4702-BFBC-5F8C5205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8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583D"/>
                </a:solidFill>
                <a:latin typeface="Arial"/>
                <a:ea typeface="Arial"/>
                <a:cs typeface="Arial"/>
              </a:rPr>
              <a:t>Live demo: eco-match-sepia.vercel.app</a:t>
            </a:r>
          </a:p>
        </p:txBody>
      </p:sp>
    </p:spTree>
    <p:extLst>
      <p:ext uri="{BB962C8B-B14F-4D97-AF65-F5344CB8AC3E}">
        <p14:creationId xmlns:p14="http://schemas.microsoft.com/office/powerpoint/2010/main" val="5649191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54E71-84E0-4A0C-BB90-31596E53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3F2A0-1058-4611-A6BA-3071CBDF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Delivery planning protects the buyer from a fake quote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431F2-58EA-4E2B-9F4E-865C242D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The platform calculates the route from the seller’s saved pickup pin to the buyer’s selected destination.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F019E-2A68-4B79-84D6-7BA03F4E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73084-AA59-48C2-9753-03A8D537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DA4FB-1A16-4528-BECC-3DC4C83E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0955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618C4-EE55-4866-8DBC-5DBE7302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Seller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3794F-0CEC-4323-8A93-EFEF917A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Saved pickup location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 price from deal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F47FD-49D3-4B96-B211-2D312928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8DF65-668D-4EBD-9C95-50561E87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20955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A380E-6A39-47AF-A1A4-84E5DE04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384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EcoMatch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66B06-9F0C-4CA1-8180-00F352DF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00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Road distance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Weight &amp; vehicle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1F2B3-1425-446C-83CC-0BFA9750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7A955-F9E7-46F6-A30F-8691972A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0955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C64E8-4992-4458-84BF-724F7C2E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384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Buyer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51B000-5129-46D9-9B86-09451A81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00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location or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searched destination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74EE2-9D34-4699-B97F-1F5A6532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Estimated total = product price + delivery estimate + 10% delivery service fee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C2349D-42B5-4982-90AD-94D4D1D8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9D9D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9D1"/>
                </a:solidFill>
                <a:latin typeface="Arial"/>
                <a:ea typeface="Arial"/>
                <a:cs typeface="Arial"/>
              </a:rPr>
              <a:t>Carrier booking and payment stay labelled as simulation until partner and gateway credentials are connected.</a:t>
            </a:r>
          </a:p>
        </p:txBody>
      </p:sp>
    </p:spTree>
    <p:extLst>
      <p:ext uri="{BB962C8B-B14F-4D97-AF65-F5344CB8AC3E}">
        <p14:creationId xmlns:p14="http://schemas.microsoft.com/office/powerpoint/2010/main" val="4433455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4F59D5-3430-4BD6-AAA9-28476FFB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16DB0-8415-4F2B-9931-77EB2BB5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Trust moves the exchange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B5DA9-E55A-4DBD-A943-EA13C5FD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separates the signals a buyer needs before agreeing to a handover.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BC6DD-4320-4D8B-BE82-C090B377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E2A91-2161-4B57-8532-92923CB4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C223A-F984-476B-9D5B-B3B1D01A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0698A-47E2-4DB6-ACCC-12F70162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3FEB9-5CA0-4D9F-A068-29DA1D27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3D36A-42EA-4379-8197-13F842F5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KYC status makes the counterparty visible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24987-F4AB-4974-B99F-7917D8AC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955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23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FF43A-798C-480F-BBC7-073E700D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907BD-B2E3-43CB-9A51-05121692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24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Listing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585EE-11B7-4DE5-96BB-6120EF48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7187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Images, condition and admin review support listing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99AE5-9743-446F-980E-9A3870E8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955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6F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3FA0B-0941-465D-B0B4-68598CE4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81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2AC06-C906-47A1-A333-1ACB7409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Transaction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DEC65-1399-4D6E-A345-47533DEA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7187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Private deal terms and payment state create a shared 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36836-9CA5-4F81-82C6-2F96CFEB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955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8AD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A0550E-9F1F-49D4-B832-E2E89721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13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B791DB-00FF-4B7F-8F4E-57A7C8CB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24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Handover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AF098E-E008-4C1D-B0AB-C6EE2FE0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71875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Evidence plus a time-bound QR/OTP completes the physical exchange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1E5075-A815-41DD-845A-C7CBC373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583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1583D"/>
                </a:solidFill>
                <a:latin typeface="Arial"/>
                <a:ea typeface="Arial"/>
                <a:cs typeface="Arial"/>
              </a:rPr>
              <a:t>The aim: make the transaction inspectable, accountable and easier to complete.</a:t>
            </a:r>
          </a:p>
        </p:txBody>
      </p:sp>
    </p:spTree>
    <p:extLst>
      <p:ext uri="{BB962C8B-B14F-4D97-AF65-F5344CB8AC3E}">
        <p14:creationId xmlns:p14="http://schemas.microsoft.com/office/powerpoint/2010/main" val="6182339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06E3E-C78A-44A4-8A97-EBC192CD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5B4B0-0052-47EE-ABC8-5555D072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Impact measurement begins with every completed exchange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BC639-7139-40D2-B585-D494A67E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We will report what moves through EcoMatch rather than make unverified impact claims.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269BE-9152-495F-AF01-FCD2AAFE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62B59-EAAE-4994-8461-56A8402C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DE439-FF29-4A2B-A4AA-EF79E17B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76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0CD35-E27F-479A-BB78-BD483A01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6193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Assets reused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9486D-553E-4BEA-8084-621B4233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971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8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8E0"/>
                </a:solidFill>
                <a:latin typeface="Arial"/>
                <a:ea typeface="Arial"/>
                <a:cs typeface="Arial"/>
              </a:rPr>
              <a:t>Count of completed item or material exchanges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98FD7-448B-4687-A99F-73E139A9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476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5BDEC-8262-46EE-8CEA-2193E081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193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Material diverted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C0FB4-1C17-4003-82CB-5238386A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71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8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8E0"/>
                </a:solidFill>
                <a:latin typeface="Arial"/>
                <a:ea typeface="Arial"/>
                <a:cs typeface="Arial"/>
              </a:rPr>
              <a:t>Seller-entered, verified weight category or confirmed weight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1E93C-2E20-4F46-8DF0-A0A629E8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76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BEA6C-2D68-4674-B833-D1F56806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433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Local circulation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9DED1-634E-4DF5-A4BA-5AC74E41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95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8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8E0"/>
                </a:solidFill>
                <a:latin typeface="Arial"/>
                <a:ea typeface="Arial"/>
                <a:cs typeface="Arial"/>
              </a:rPr>
              <a:t>Route distance and buyer/seller locality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A113DB-62CF-450C-8424-EF7A0A60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476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143A2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66A73-9FC0-422C-9F8E-82FC282A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433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Trust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025FA-E542-4D4A-A8E7-12D73CFF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495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8E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8E0"/>
                </a:solidFill>
                <a:latin typeface="Arial"/>
                <a:ea typeface="Arial"/>
                <a:cs typeface="Arial"/>
              </a:rPr>
              <a:t>Verified listings, completed handovers and dispute resolution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D4334-5B29-451A-915B-D2C4E3BF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FF7E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FF7E7"/>
                </a:solidFill>
                <a:latin typeface="Arial"/>
                <a:ea typeface="Arial"/>
                <a:cs typeface="Arial"/>
              </a:rPr>
              <a:t>Pilot goal: establish a credible baseline before publishing environmental savings.</a:t>
            </a:r>
          </a:p>
        </p:txBody>
      </p:sp>
    </p:spTree>
    <p:extLst>
      <p:ext uri="{BB962C8B-B14F-4D97-AF65-F5344CB8AC3E}">
        <p14:creationId xmlns:p14="http://schemas.microsoft.com/office/powerpoint/2010/main" val="17373838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4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A0DD9-AEAB-42FB-98B1-8CF86265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A2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5A23A"/>
                </a:solidFill>
                <a:latin typeface="Arial"/>
                <a:ea typeface="Arial"/>
                <a:cs typeface="Arial"/>
              </a:rPr>
              <a:t>010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67871-CA9D-4606-A513-30E81BDB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A practical path to city-scale reuse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527CD-A447-45A4-A0F6-FCEA4722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Start with dense supply, learn from exchanges, then connect institutions and logistics.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EF443-050F-4505-8D5C-3004646B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51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50C6E-26BB-44F7-90C3-B1597B3C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EcoMatch  |  Segue 3.0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741A6-72A8-47D3-803A-B0686178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3048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FF7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60757-4913-40BF-9C20-F8885AEF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71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705B9-DE25-4881-8E92-EE885674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699BE-EC84-4ECA-9494-C7009DB3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9525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Work with campuses, offices and local recyclers. Validate listing quality and successful handovers.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AB577-D81B-40AE-A035-CC3E1A06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14625"/>
            <a:ext cx="3048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2D297-BBAA-498F-963E-70847ECA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71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PHASE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F72F7-F791-4F4B-9222-78DF74CF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33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1A0716-8D01-4E35-B2B0-E278F2D5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19525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Build repeat buyer-seller communities around material streams and local areas.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ED8528-7296-4BFA-98A2-7C5F44A5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14625"/>
            <a:ext cx="30480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E7B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2FABE-0D67-475C-921E-F3DC2EE4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71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2766C"/>
                </a:solidFill>
                <a:latin typeface="Arial"/>
                <a:ea typeface="Arial"/>
                <a:cs typeface="Arial"/>
              </a:rPr>
              <a:t>PHASE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6338BA-A3A5-431B-9E77-CD9C1F90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51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51A"/>
                </a:solidFill>
                <a:latin typeface="Arial"/>
                <a:ea typeface="Arial"/>
                <a:cs typeface="Arial"/>
              </a:rPr>
              <a:t>Institutional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0126D-6B55-4783-8623-78B1CAEB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9525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76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66C"/>
                </a:solidFill>
                <a:latin typeface="Arial"/>
                <a:ea typeface="Arial"/>
                <a:cs typeface="Arial"/>
              </a:rPr>
              <a:t>Offer reporting, controlled workflows and reuse insights to organizations and city partners.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11491-3EE5-4D48-A00D-04F75793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8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1583D"/>
                </a:solidFill>
                <a:latin typeface="Arial"/>
                <a:ea typeface="Arial"/>
                <a:cs typeface="Arial"/>
              </a:rPr>
              <a:t>Revenue can come from transaction services and institutional workflow tools after the pilot proves exchange quality.</a:t>
            </a:r>
          </a:p>
        </p:txBody>
      </p:sp>
    </p:spTree>
    <p:extLst>
      <p:ext uri="{BB962C8B-B14F-4D97-AF65-F5344CB8AC3E}">
        <p14:creationId xmlns:p14="http://schemas.microsoft.com/office/powerpoint/2010/main" val="7119249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2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400C0-33BB-40CF-929E-CD19ACD0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62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THE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FEC40-2B82-4370-BF16-B94ABF99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7334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Help us make reuse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visible, trusted and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worth choosing.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8870E-AC1C-4E95-91D8-D3F2C9CF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652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7D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7E7DF"/>
                </a:solidFill>
                <a:latin typeface="Arial"/>
                <a:ea typeface="Arial"/>
                <a:cs typeface="Arial"/>
              </a:rPr>
              <a:t>Explore the live platform. Challenge the workflow. Help EcoMatch learn from real exchanges.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F8131-7FFF-4046-B380-EF549590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190500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04BEE-068E-46EF-BB06-B0BB001E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LIVE</a:t>
            </a:r>
          </a:p>
          <a:p xmlns:a="http://schemas.openxmlformats.org/drawingml/2006/main">
            <a:pPr algn="ctr">
              <a:defRPr sz="2100" b="1">
                <a:solidFill>
                  <a:srgbClr val="0B21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2118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F1F93-01C4-43A3-82DC-570A4252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0050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9FF6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FF66"/>
                </a:solidFill>
                <a:latin typeface="Arial"/>
                <a:ea typeface="Arial"/>
                <a:cs typeface="Arial"/>
              </a:rPr>
              <a:t>eco-match-sepia.vercel.app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5CD62-6870-458C-A62F-E2F8A50B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7217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C0B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AC0B3"/>
                </a:solidFill>
                <a:latin typeface="Arial"/>
                <a:ea typeface="Arial"/>
                <a:cs typeface="Arial"/>
              </a:rPr>
              <a:t>EcoMatch  |  Segue 3.0 Finale</a:t>
            </a:r>
          </a:p>
        </p:txBody>
      </p:sp>
    </p:spTree>
    <p:extLst>
      <p:ext uri="{BB962C8B-B14F-4D97-AF65-F5344CB8AC3E}">
        <p14:creationId xmlns:p14="http://schemas.microsoft.com/office/powerpoint/2010/main" val="1205708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2026-09-29T10:21:44.3750000Z</dcterms:created>
  <dcterms:modified xsi:type="dcterms:W3CDTF">2026-09-29T10:21:44.3750000Z</dcterms:modified>
</coreProperties>
</file>